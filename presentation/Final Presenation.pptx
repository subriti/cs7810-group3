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Inter" panose="020B0502030000000004" pitchFamily="34" charset="0"/>
      <p:regular r:id="rId16"/>
    </p:embeddedFont>
    <p:embeddedFont>
      <p:font typeface="Inter Bold" panose="020B0802030000000004" pitchFamily="34" charset="0"/>
      <p:regular r:id="rId17"/>
      <p:bold r:id="rId18"/>
    </p:embeddedFont>
    <p:embeddedFont>
      <p:font typeface="Inter Light" panose="02000503000000020004" pitchFamily="2" charset="0"/>
      <p:regular r:id="rId19"/>
    </p:embeddedFont>
    <p:embeddedFont>
      <p:font typeface="Inter Semi-Bold" panose="02000503000000020004" pitchFamily="2" charset="0"/>
      <p:regular r:id="rId20"/>
      <p:bold r:id="rId21"/>
    </p:embeddedFont>
    <p:embeddedFont>
      <p:font typeface="Poppins" pitchFamily="2" charset="77"/>
      <p:regular r:id="rId22"/>
    </p:embeddedFont>
    <p:embeddedFont>
      <p:font typeface="Poppins Bold" pitchFamily="2" charset="7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609" autoAdjust="0"/>
  </p:normalViewPr>
  <p:slideViewPr>
    <p:cSldViewPr>
      <p:cViewPr>
        <p:scale>
          <a:sx n="67" d="100"/>
          <a:sy n="67" d="100"/>
        </p:scale>
        <p:origin x="1024" y="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3360968" y="2893408"/>
            <a:ext cx="10730064" cy="4500183"/>
            <a:chOff x="0" y="0"/>
            <a:chExt cx="3845413" cy="1612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1612764"/>
            </a:xfrm>
            <a:custGeom>
              <a:avLst/>
              <a:gdLst/>
              <a:ahLst/>
              <a:cxnLst/>
              <a:rect l="l" t="t" r="r" b="b"/>
              <a:pathLst>
                <a:path w="3845413" h="1612764">
                  <a:moveTo>
                    <a:pt x="0" y="0"/>
                  </a:moveTo>
                  <a:lnTo>
                    <a:pt x="3845413" y="0"/>
                  </a:lnTo>
                  <a:lnTo>
                    <a:pt x="3845413" y="1612764"/>
                  </a:lnTo>
                  <a:lnTo>
                    <a:pt x="0" y="161276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1660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31819" y="5798189"/>
            <a:ext cx="11049817" cy="2854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24"/>
              </a:lnSpc>
            </a:pPr>
            <a:r>
              <a:rPr lang="en-US" sz="8499" b="1" spc="-637">
                <a:solidFill>
                  <a:srgbClr val="403E3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CS RESEARCH KNOWLEDGE GRAPH</a:t>
            </a:r>
          </a:p>
          <a:p>
            <a:pPr algn="l">
              <a:lnSpc>
                <a:spcPts val="7224"/>
              </a:lnSpc>
            </a:pPr>
            <a:endParaRPr lang="en-US" sz="8499" b="1" spc="-637">
              <a:solidFill>
                <a:srgbClr val="403E3E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3779965" y="1028700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331592" y="2912110"/>
            <a:ext cx="6213575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spc="-270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INTRODUCTION TO KNOWLEDGE ENGINEERING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4430" y="8614410"/>
            <a:ext cx="4279181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JULIA GRACE M</a:t>
            </a:r>
          </a:p>
          <a:p>
            <a:pPr algn="l">
              <a:lnSpc>
                <a:spcPts val="2520"/>
              </a:lnSpc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MOSES RAJ M</a:t>
            </a:r>
          </a:p>
          <a:p>
            <a:pPr algn="l">
              <a:lnSpc>
                <a:spcPts val="2520"/>
              </a:lnSpc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SUBRITI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SUMANTH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56550" y="721995"/>
            <a:ext cx="285017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53496" y="2560744"/>
            <a:ext cx="13605804" cy="543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endParaRPr/>
          </a:p>
          <a:p>
            <a:pPr marL="669283" lvl="1" indent="-334641" algn="just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 strike="noStrike" spc="-68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Research in CS generates thousands of papers, patents, and grants every year.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  <a:endParaRPr lang="en-US" sz="3099" u="none" strike="noStrike" spc="-68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669283" lvl="1" indent="-334641" algn="just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 strike="noStrike" spc="-68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All of these are stored in different datasets: DBLP, NSF, USPTO.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  <a:endParaRPr lang="en-US" sz="3099" u="none" strike="noStrike" spc="-68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669283" lvl="1" indent="-334641" algn="just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b="1" u="none" strike="noStrike" spc="-68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Challenge:</a:t>
            </a:r>
            <a:r>
              <a:rPr lang="en-US" sz="3099" u="none" strike="noStrike" spc="-68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lack of unified structure for analyzing CS research evolution.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  <a:endParaRPr lang="en-US" sz="3099" u="none" strike="noStrike" spc="-68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669283" lvl="1" indent="-334641" algn="just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b="1" u="none" strike="noStrike" spc="-68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Goal:</a:t>
            </a:r>
            <a:r>
              <a:rPr lang="en-US" sz="3099" u="none" strike="noStrike" spc="-68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Create a semantic knowledge graph connecting funding, publications, innovation in the field of CS</a:t>
            </a:r>
          </a:p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endParaRPr lang="en-US" sz="3099" u="none" strike="noStrike" spc="-68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251437" y="1481032"/>
            <a:ext cx="7959169" cy="6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4601476" y="2727751"/>
            <a:ext cx="10730064" cy="4831498"/>
            <a:chOff x="0" y="0"/>
            <a:chExt cx="3845413" cy="1731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705115" y="628325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601253" y="2119602"/>
            <a:ext cx="11085494" cy="7353378"/>
          </a:xfrm>
          <a:custGeom>
            <a:avLst/>
            <a:gdLst/>
            <a:ahLst/>
            <a:cxnLst/>
            <a:rect l="l" t="t" r="r" b="b"/>
            <a:pathLst>
              <a:path w="11085494" h="7353378">
                <a:moveTo>
                  <a:pt x="0" y="0"/>
                </a:moveTo>
                <a:lnTo>
                  <a:pt x="11085494" y="0"/>
                </a:lnTo>
                <a:lnTo>
                  <a:pt x="11085494" y="7353378"/>
                </a:lnTo>
                <a:lnTo>
                  <a:pt x="0" y="73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48620" y="1056534"/>
            <a:ext cx="7959169" cy="6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Schema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53496" y="2522644"/>
            <a:ext cx="13605804" cy="6366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0" lvl="1" indent="-388615" algn="just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 b="1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Core</a:t>
            </a:r>
            <a:r>
              <a:rPr lang="en-US" sz="3599" b="1" u="none" strike="noStrike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599" b="1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sz="3599" b="1" u="none" strike="noStrike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lass</a:t>
            </a:r>
            <a:r>
              <a:rPr lang="en-US" sz="3599" b="1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sz="3599" b="1" u="none" strike="noStrike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s:</a:t>
            </a:r>
          </a:p>
          <a:p>
            <a:pPr algn="just">
              <a:lnSpc>
                <a:spcPts val="5039"/>
              </a:lnSpc>
              <a:spcBef>
                <a:spcPct val="0"/>
              </a:spcBef>
            </a:pPr>
            <a:endParaRPr lang="en-US" sz="3599" b="1" u="none" strike="noStrike" spc="-79">
              <a:solidFill>
                <a:srgbClr val="403E3E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Pap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r,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te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rant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A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ns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it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uti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on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opic, 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Tr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ject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x,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Sp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ati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ot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alExt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</a:p>
          <a:p>
            <a:pPr algn="just">
              <a:lnSpc>
                <a:spcPts val="5039"/>
              </a:lnSpc>
              <a:spcBef>
                <a:spcPct val="0"/>
              </a:spcBef>
            </a:pPr>
            <a:endParaRPr lang="en-US" sz="3599" spc="-79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77230" lvl="1" indent="-388615" algn="just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 b="1" u="none" strike="noStrike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K</a:t>
            </a:r>
            <a:r>
              <a:rPr lang="en-US" sz="3599" b="1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sz="3599" b="1" u="none" strike="noStrike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y</a:t>
            </a:r>
            <a:r>
              <a:rPr lang="en-US" sz="3599" b="1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599" b="1" u="none" strike="noStrike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sz="3599" b="1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sz="3599" b="1" u="none" strike="noStrike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sz="3599" b="1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ation</a:t>
            </a:r>
            <a:r>
              <a:rPr lang="en-US" sz="3599" b="1" u="none" strike="noStrike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s:</a:t>
            </a:r>
          </a:p>
          <a:p>
            <a:pPr algn="just">
              <a:lnSpc>
                <a:spcPts val="5039"/>
              </a:lnSpc>
              <a:spcBef>
                <a:spcPct val="0"/>
              </a:spcBef>
            </a:pPr>
            <a:endParaRPr lang="en-US" sz="3599" b="1" u="none" strike="noStrike" spc="-79">
              <a:solidFill>
                <a:srgbClr val="403E3E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writes,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rf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rms,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m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es, 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has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opic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, h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as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x, 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in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fl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ce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h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ra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Ev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nt,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partOfT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ra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jectory, e</a:t>
            </a:r>
            <a:r>
              <a:rPr lang="en-US" sz="3599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3599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c.</a:t>
            </a:r>
          </a:p>
          <a:p>
            <a:pPr marL="0" lvl="0" indent="0" algn="just">
              <a:lnSpc>
                <a:spcPts val="5039"/>
              </a:lnSpc>
              <a:spcBef>
                <a:spcPct val="0"/>
              </a:spcBef>
            </a:pPr>
            <a:endParaRPr lang="en-US" sz="3599" u="none" strike="noStrike" spc="-79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251437" y="1481032"/>
            <a:ext cx="7959169" cy="6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Classes and Relations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4601476" y="2727751"/>
            <a:ext cx="10730064" cy="4831498"/>
            <a:chOff x="0" y="0"/>
            <a:chExt cx="3845413" cy="1731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705115" y="628325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20721" y="3393567"/>
            <a:ext cx="5990253" cy="4212319"/>
          </a:xfrm>
          <a:custGeom>
            <a:avLst/>
            <a:gdLst/>
            <a:ahLst/>
            <a:cxnLst/>
            <a:rect l="l" t="t" r="r" b="b"/>
            <a:pathLst>
              <a:path w="5990253" h="4212319">
                <a:moveTo>
                  <a:pt x="0" y="0"/>
                </a:moveTo>
                <a:lnTo>
                  <a:pt x="5990253" y="0"/>
                </a:lnTo>
                <a:lnTo>
                  <a:pt x="5990253" y="4212318"/>
                </a:lnTo>
                <a:lnTo>
                  <a:pt x="0" y="4212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234" b="-232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69688" y="3393567"/>
            <a:ext cx="5717633" cy="4212319"/>
          </a:xfrm>
          <a:custGeom>
            <a:avLst/>
            <a:gdLst/>
            <a:ahLst/>
            <a:cxnLst/>
            <a:rect l="l" t="t" r="r" b="b"/>
            <a:pathLst>
              <a:path w="5717633" h="4212319">
                <a:moveTo>
                  <a:pt x="0" y="0"/>
                </a:moveTo>
                <a:lnTo>
                  <a:pt x="5717633" y="0"/>
                </a:lnTo>
                <a:lnTo>
                  <a:pt x="5717633" y="4212318"/>
                </a:lnTo>
                <a:lnTo>
                  <a:pt x="0" y="4212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41" r="-47844" b="-54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142190" y="2507350"/>
            <a:ext cx="4569064" cy="6356958"/>
          </a:xfrm>
          <a:custGeom>
            <a:avLst/>
            <a:gdLst/>
            <a:ahLst/>
            <a:cxnLst/>
            <a:rect l="l" t="t" r="r" b="b"/>
            <a:pathLst>
              <a:path w="4569064" h="6356958">
                <a:moveTo>
                  <a:pt x="0" y="0"/>
                </a:moveTo>
                <a:lnTo>
                  <a:pt x="4569064" y="0"/>
                </a:lnTo>
                <a:lnTo>
                  <a:pt x="456906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909700"/>
            <a:ext cx="7959169" cy="6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EFEEEC"/>
                </a:solidFill>
                <a:latin typeface="Inter"/>
                <a:ea typeface="Inter"/>
                <a:cs typeface="Inter"/>
                <a:sym typeface="Inter"/>
              </a:rPr>
              <a:t>Axiomatization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742444"/>
            <a:ext cx="1434859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Axiomatization is the process of defining the core rules and constraints of a knowledge domain so that all other facts can be logically derived.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E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E4A4E-2895-DE10-2839-6B2831FE6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44C64D8C-DCAA-9274-6FC4-44962AC30EBC}"/>
              </a:ext>
            </a:extLst>
          </p:cNvPr>
          <p:cNvSpPr txBox="1"/>
          <p:nvPr/>
        </p:nvSpPr>
        <p:spPr>
          <a:xfrm>
            <a:off x="1028700" y="909700"/>
            <a:ext cx="10248900" cy="630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  <a:spcBef>
                <a:spcPct val="0"/>
              </a:spcBef>
            </a:pPr>
            <a:r>
              <a:rPr lang="en-US" sz="5600" spc="-420" dirty="0">
                <a:solidFill>
                  <a:srgbClr val="EFEEEC"/>
                </a:solidFill>
                <a:latin typeface="Inter"/>
                <a:ea typeface="Inter"/>
                <a:cs typeface="Inter"/>
                <a:sym typeface="Inter"/>
              </a:rPr>
              <a:t>Why is Axiomatization important?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DEFB3D2-4741-81E2-AEA1-95A464AC662E}"/>
              </a:ext>
            </a:extLst>
          </p:cNvPr>
          <p:cNvSpPr txBox="1"/>
          <p:nvPr/>
        </p:nvSpPr>
        <p:spPr>
          <a:xfrm>
            <a:off x="1028700" y="1742444"/>
            <a:ext cx="15735300" cy="555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Because once these axioms are in place, the reasoner can start doing the heavy lifting.</a:t>
            </a:r>
          </a:p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can infer new relationships, detect errors, and verify whether our model is logically sound—almost like having a built-in quality check for the ontology.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0DEDBF-9063-66BC-4800-53462C5DB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82" y="3093114"/>
            <a:ext cx="10201218" cy="5794568"/>
          </a:xfrm>
          <a:prstGeom prst="rect">
            <a:avLst/>
          </a:prstGeom>
        </p:spPr>
      </p:pic>
      <p:pic>
        <p:nvPicPr>
          <p:cNvPr id="12" name="Picture 11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A9C8C6AE-B447-3539-6E2D-134356BA9B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95328"/>
            <a:ext cx="6728895" cy="639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98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4601476" y="2727751"/>
            <a:ext cx="10730064" cy="4831498"/>
            <a:chOff x="0" y="0"/>
            <a:chExt cx="3845413" cy="1731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705115" y="628325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653496" y="1145166"/>
            <a:ext cx="7959169" cy="6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Data Transformation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3496" y="2413232"/>
            <a:ext cx="13875467" cy="814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403E3E"/>
                </a:solidFill>
                <a:latin typeface="Poppins Bold"/>
                <a:ea typeface="Poppins Bold"/>
                <a:cs typeface="Poppins Bold"/>
                <a:sym typeface="Poppins Bold"/>
              </a:rPr>
              <a:t>Common Entities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600" b="1">
              <a:solidFill>
                <a:srgbClr val="403E3E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403E3E"/>
                </a:solidFill>
                <a:latin typeface="Poppins Bold"/>
                <a:ea typeface="Poppins Bold"/>
                <a:cs typeface="Poppins Bold"/>
                <a:sym typeface="Poppins Bold"/>
              </a:rPr>
              <a:t>• Authors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DBLP → authors of papers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Patents → inventors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NSF → Principal Investigators (PI/Co-PI)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403E3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403E3E"/>
                </a:solidFill>
                <a:latin typeface="Poppins Bold"/>
                <a:ea typeface="Poppins Bold"/>
                <a:cs typeface="Poppins Bold"/>
                <a:sym typeface="Poppins Bold"/>
              </a:rPr>
              <a:t>• Research Topics / Keywords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DBLP → extracted from paper titles/keywords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Patents → extracted from abstracts/claims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NSF → topics from award abstracts/keywords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403E3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403E3E"/>
                </a:solidFill>
                <a:latin typeface="Poppins Bold"/>
                <a:ea typeface="Poppins Bold"/>
                <a:cs typeface="Poppins Bold"/>
                <a:sym typeface="Poppins Bold"/>
              </a:rPr>
              <a:t>• Temporal Information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DBLP → publication year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NSF → award year &amp; duration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Patents → filing date, grant date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               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40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4601476" y="2727751"/>
            <a:ext cx="10730064" cy="4831498"/>
            <a:chOff x="0" y="0"/>
            <a:chExt cx="3845413" cy="1731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705115" y="628325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653496" y="1145166"/>
            <a:ext cx="7959169" cy="6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Data Transformation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3496" y="2413232"/>
            <a:ext cx="13875467" cy="822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403E3E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Convert all dates to a single format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Standardize author/institution names 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Normalize topics/keywords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403E3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403E3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403E3E"/>
                </a:solidFill>
                <a:latin typeface="Poppins Bold"/>
                <a:ea typeface="Poppins Bold"/>
                <a:cs typeface="Poppins Bold"/>
                <a:sym typeface="Poppins Bold"/>
              </a:rPr>
              <a:t>Topic Extraction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TF-IDF keyword extraction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Contextual embeddings (BERT)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Topic modeling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403E3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403E3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403E3E"/>
                </a:solidFill>
                <a:latin typeface="Poppins Bold"/>
                <a:ea typeface="Poppins Bold"/>
                <a:cs typeface="Poppins Bold"/>
                <a:sym typeface="Poppins Bold"/>
              </a:rPr>
              <a:t>Clustering to Find Topic Groups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Group similar papers, patents, and NSF awards together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Creates unified topic clusters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403E3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03E3E"/>
                </a:solidFill>
                <a:latin typeface="Poppins"/>
                <a:ea typeface="Poppins"/>
                <a:cs typeface="Poppins"/>
                <a:sym typeface="Poppins"/>
              </a:rPr>
              <a:t>               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40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4601476" y="2727751"/>
            <a:ext cx="10730064" cy="4831498"/>
            <a:chOff x="0" y="0"/>
            <a:chExt cx="3845413" cy="1731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705115" y="628325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653496" y="2585324"/>
            <a:ext cx="14109712" cy="7923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72"/>
              </a:lnSpc>
              <a:spcBef>
                <a:spcPct val="0"/>
              </a:spcBef>
            </a:pPr>
            <a:r>
              <a:rPr lang="en-US" sz="3623" b="1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1Q.</a:t>
            </a:r>
            <a:r>
              <a:rPr lang="en-US" sz="3623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623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Which institutions have received the most NSF grants related to AI research?</a:t>
            </a:r>
          </a:p>
          <a:p>
            <a:pPr algn="just">
              <a:lnSpc>
                <a:spcPts val="5072"/>
              </a:lnSpc>
              <a:spcBef>
                <a:spcPct val="0"/>
              </a:spcBef>
            </a:pPr>
            <a:endParaRPr lang="en-US" sz="3623" u="none" strike="noStrike" spc="-79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5072"/>
              </a:lnSpc>
              <a:spcBef>
                <a:spcPct val="0"/>
              </a:spcBef>
            </a:pPr>
            <a:r>
              <a:rPr lang="en-US" sz="3623" b="1" u="none" strike="noStrike" spc="-7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Ans) </a:t>
            </a:r>
            <a:r>
              <a:rPr lang="en-US" sz="3623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Grants are identified through the hasKeyword relation connecting a Paper to a Topic. </a:t>
            </a:r>
          </a:p>
          <a:p>
            <a:pPr algn="just">
              <a:lnSpc>
                <a:spcPts val="5072"/>
              </a:lnSpc>
              <a:spcBef>
                <a:spcPct val="0"/>
              </a:spcBef>
            </a:pPr>
            <a:endParaRPr lang="en-US" sz="3623" u="none" strike="noStrike" spc="-79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5072"/>
              </a:lnSpc>
              <a:spcBef>
                <a:spcPct val="0"/>
              </a:spcBef>
            </a:pPr>
            <a:r>
              <a:rPr lang="en-US" sz="3623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Each Grant is then linked to an Institution via the awardedTo relation.</a:t>
            </a:r>
          </a:p>
          <a:p>
            <a:pPr algn="just">
              <a:lnSpc>
                <a:spcPts val="5072"/>
              </a:lnSpc>
              <a:spcBef>
                <a:spcPct val="0"/>
              </a:spcBef>
            </a:pPr>
            <a:endParaRPr lang="en-US" sz="3623" u="none" strike="noStrike" spc="-79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5072"/>
              </a:lnSpc>
              <a:spcBef>
                <a:spcPct val="0"/>
              </a:spcBef>
            </a:pPr>
            <a:r>
              <a:rPr lang="en-US" sz="3623" u="none" strike="noStrike" spc="-79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Counting the number of grants for a particular Topic gives the answer of how much funding is going into one Research Topic.</a:t>
            </a:r>
          </a:p>
          <a:p>
            <a:pPr algn="just">
              <a:lnSpc>
                <a:spcPts val="5072"/>
              </a:lnSpc>
              <a:spcBef>
                <a:spcPct val="0"/>
              </a:spcBef>
            </a:pPr>
            <a:endParaRPr lang="en-US" sz="3623" u="none" strike="noStrike" spc="-79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>
              <a:lnSpc>
                <a:spcPts val="2028"/>
              </a:lnSpc>
              <a:spcBef>
                <a:spcPct val="0"/>
              </a:spcBef>
            </a:pPr>
            <a:endParaRPr lang="en-US" sz="3623" u="none" strike="noStrike" spc="-79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222579" y="720668"/>
            <a:ext cx="7959169" cy="6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Competency Questions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77773" y="952500"/>
            <a:ext cx="14117497" cy="748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endParaRPr/>
          </a:p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-87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2Q.</a:t>
            </a:r>
            <a:r>
              <a:rPr lang="en-US" sz="3999" u="none" strike="noStrike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How has CS topics evolved over time?</a:t>
            </a:r>
          </a:p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endParaRPr lang="en-US" sz="3999" u="none" strike="noStrike" spc="-87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-87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Ans)</a:t>
            </a:r>
            <a:r>
              <a:rPr lang="en-US" sz="3999" u="none" strike="noStrike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Each Topic has a Trajectory, made up of time-ordered Fixes, and each Fix corresponds to a Paper with a publication date.</a:t>
            </a:r>
          </a:p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endParaRPr lang="en-US" sz="3999" u="none" strike="noStrike" spc="-87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u="none" strike="noStrike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By aggregating these fixes along the trajectory, the ontology provides a timeline showing how a CS topic has evolved over time.</a:t>
            </a:r>
          </a:p>
          <a:p>
            <a:pPr marL="0" lvl="0" indent="0" algn="just">
              <a:lnSpc>
                <a:spcPts val="3499"/>
              </a:lnSpc>
              <a:spcBef>
                <a:spcPct val="0"/>
              </a:spcBef>
            </a:pPr>
            <a:endParaRPr lang="en-US" sz="3999" u="none" strike="noStrike" spc="-87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" name="Group 3"/>
          <p:cNvGrpSpPr/>
          <p:nvPr/>
        </p:nvGrpSpPr>
        <p:grpSpPr>
          <a:xfrm rot="5400000">
            <a:off x="-4601476" y="2727751"/>
            <a:ext cx="10730064" cy="4831498"/>
            <a:chOff x="0" y="0"/>
            <a:chExt cx="3845413" cy="1731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705115" y="628325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73655" y="952500"/>
            <a:ext cx="14117497" cy="984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 spc="-87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3Q.</a:t>
            </a:r>
            <a:r>
              <a:rPr lang="en-US" sz="3999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999" u="none" strike="noStrike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Which NSF projects produced the highest innovation velocity?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endParaRPr lang="en-US" sz="3999" u="none" strike="noStrike" spc="-87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-87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Ans)</a:t>
            </a:r>
            <a:r>
              <a:rPr lang="en-US" sz="3999" u="none" strike="noStrike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The number of papers and patents that are being released in a particular Topic after a grant is issued is the innovation velocity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endParaRPr lang="en-US" sz="3999" u="none" strike="noStrike" spc="-87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u="none" strike="noStrike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Using the awardDate of the grant and the hasDate values of resulting papers/patents, the ontology measures how quickly new outputs appear.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u="none" strike="noStrike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This allows computation of innovation velocity.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endParaRPr lang="en-US" sz="3999" u="none" strike="noStrike" spc="-87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5599"/>
              </a:lnSpc>
              <a:spcBef>
                <a:spcPct val="0"/>
              </a:spcBef>
            </a:pPr>
            <a:endParaRPr lang="en-US" sz="3999" u="none" strike="noStrike" spc="-87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endParaRPr lang="en-US" sz="3999" u="none" strike="noStrike" spc="-87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" name="Group 3"/>
          <p:cNvGrpSpPr/>
          <p:nvPr/>
        </p:nvGrpSpPr>
        <p:grpSpPr>
          <a:xfrm rot="5400000">
            <a:off x="-4601476" y="2727751"/>
            <a:ext cx="10730064" cy="4831498"/>
            <a:chOff x="0" y="0"/>
            <a:chExt cx="3845413" cy="1731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705115" y="628325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77773" y="1312488"/>
            <a:ext cx="14117497" cy="843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 spc="-87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4Q.</a:t>
            </a:r>
            <a:r>
              <a:rPr lang="en-US" sz="3999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999" u="none" strike="noStrike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Which authors frequently publish in both academic venues (conferences/journals) and also file patents?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endParaRPr lang="en-US" sz="3999" u="none" strike="noStrike" spc="-87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-87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Ans)</a:t>
            </a:r>
            <a:r>
              <a:rPr lang="en-US" sz="3999" u="none" strike="noStrike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The schema links an Author to Paper and Inventors to their Patents.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u="none" strike="noStrike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u="none" strike="noStrike" spc="-8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Person who appear in both sets—those who have writes → Paper (Venue) and files → Patent (hasInventor) —are identified as publishing academically while also generating patents.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endParaRPr lang="en-US" sz="3999" u="none" strike="noStrike" spc="-87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endParaRPr lang="en-US" sz="3999" u="none" strike="noStrike" spc="-87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" name="Group 3"/>
          <p:cNvGrpSpPr/>
          <p:nvPr/>
        </p:nvGrpSpPr>
        <p:grpSpPr>
          <a:xfrm rot="5400000">
            <a:off x="-4601476" y="2727751"/>
            <a:ext cx="10730064" cy="4831498"/>
            <a:chOff x="0" y="0"/>
            <a:chExt cx="3845413" cy="1731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705115" y="628325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55838" y="952500"/>
            <a:ext cx="13103462" cy="9141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97"/>
              </a:lnSpc>
              <a:spcBef>
                <a:spcPct val="0"/>
              </a:spcBef>
            </a:pPr>
            <a:r>
              <a:rPr lang="en-US" sz="3712" b="1" spc="-81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5Q.</a:t>
            </a:r>
            <a:r>
              <a:rPr lang="en-US" sz="3712" spc="-8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712" u="none" strike="noStrike" spc="-8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Which NSF-funded areas have produced patents most rapidly (shortest time lag)?</a:t>
            </a:r>
          </a:p>
          <a:p>
            <a:pPr algn="just">
              <a:lnSpc>
                <a:spcPts val="5197"/>
              </a:lnSpc>
              <a:spcBef>
                <a:spcPct val="0"/>
              </a:spcBef>
            </a:pPr>
            <a:endParaRPr lang="en-US" sz="3712" u="none" strike="noStrike" spc="-81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5197"/>
              </a:lnSpc>
              <a:spcBef>
                <a:spcPct val="0"/>
              </a:spcBef>
            </a:pPr>
            <a:r>
              <a:rPr lang="en-US" sz="3712" b="1" u="none" strike="noStrike" spc="-81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Ans)</a:t>
            </a:r>
            <a:r>
              <a:rPr lang="en-US" sz="3712" u="none" strike="noStrike" spc="-8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Each Grant is linked to one or more Topics and to resulting Patents.</a:t>
            </a:r>
          </a:p>
          <a:p>
            <a:pPr algn="just">
              <a:lnSpc>
                <a:spcPts val="5197"/>
              </a:lnSpc>
              <a:spcBef>
                <a:spcPct val="0"/>
              </a:spcBef>
            </a:pPr>
            <a:r>
              <a:rPr lang="en-US" sz="3712" u="none" strike="noStrike" spc="-8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just">
              <a:lnSpc>
                <a:spcPts val="5197"/>
              </a:lnSpc>
              <a:spcBef>
                <a:spcPct val="0"/>
              </a:spcBef>
            </a:pPr>
            <a:r>
              <a:rPr lang="en-US" sz="3712" u="none" strike="noStrike" spc="-8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By comparing the awardDate of a grant with the hasDate of patents connected to it, the ontology can compute the shortest time lag.</a:t>
            </a:r>
          </a:p>
          <a:p>
            <a:pPr algn="just">
              <a:lnSpc>
                <a:spcPts val="5197"/>
              </a:lnSpc>
              <a:spcBef>
                <a:spcPct val="0"/>
              </a:spcBef>
            </a:pPr>
            <a:r>
              <a:rPr lang="en-US" sz="3712" u="none" strike="noStrike" spc="-8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just">
              <a:lnSpc>
                <a:spcPts val="5197"/>
              </a:lnSpc>
              <a:spcBef>
                <a:spcPct val="0"/>
              </a:spcBef>
            </a:pPr>
            <a:r>
              <a:rPr lang="en-US" sz="3712" u="none" strike="noStrike" spc="-81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This shows which NSF-funded areas generate patents the fastest.</a:t>
            </a:r>
          </a:p>
          <a:p>
            <a:pPr algn="just">
              <a:lnSpc>
                <a:spcPts val="5197"/>
              </a:lnSpc>
              <a:spcBef>
                <a:spcPct val="0"/>
              </a:spcBef>
            </a:pPr>
            <a:endParaRPr lang="en-US" sz="3712" u="none" strike="noStrike" spc="-81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>
              <a:lnSpc>
                <a:spcPts val="5197"/>
              </a:lnSpc>
              <a:spcBef>
                <a:spcPct val="0"/>
              </a:spcBef>
            </a:pPr>
            <a:endParaRPr lang="en-US" sz="3712" u="none" strike="noStrike" spc="-81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" name="Group 3"/>
          <p:cNvGrpSpPr/>
          <p:nvPr/>
        </p:nvGrpSpPr>
        <p:grpSpPr>
          <a:xfrm rot="5400000">
            <a:off x="-4601476" y="2727751"/>
            <a:ext cx="10730064" cy="4831498"/>
            <a:chOff x="0" y="0"/>
            <a:chExt cx="3845413" cy="1731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705115" y="628325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71645" y="4264932"/>
            <a:ext cx="7553325" cy="102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224"/>
              </a:lnSpc>
            </a:pPr>
            <a:r>
              <a:rPr lang="en-US" sz="8499" b="1" spc="-637">
                <a:solidFill>
                  <a:srgbClr val="403E3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THANKYOU</a:t>
            </a:r>
          </a:p>
        </p:txBody>
      </p:sp>
      <p:grpSp>
        <p:nvGrpSpPr>
          <p:cNvPr id="3" name="Group 3"/>
          <p:cNvGrpSpPr/>
          <p:nvPr/>
        </p:nvGrpSpPr>
        <p:grpSpPr>
          <a:xfrm rot="5400000">
            <a:off x="-5767677" y="2558755"/>
            <a:ext cx="10730064" cy="5979852"/>
            <a:chOff x="0" y="0"/>
            <a:chExt cx="3845413" cy="21430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45413" cy="2143044"/>
            </a:xfrm>
            <a:custGeom>
              <a:avLst/>
              <a:gdLst/>
              <a:ahLst/>
              <a:cxnLst/>
              <a:rect l="l" t="t" r="r" b="b"/>
              <a:pathLst>
                <a:path w="3845413" h="2143044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113090" y="1211532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663</Words>
  <Application>Microsoft Macintosh PowerPoint</Application>
  <PresentationFormat>Custom</PresentationFormat>
  <Paragraphs>100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Inter Light</vt:lpstr>
      <vt:lpstr>Arial</vt:lpstr>
      <vt:lpstr>Inter Semi-Bold</vt:lpstr>
      <vt:lpstr>Calibri</vt:lpstr>
      <vt:lpstr>Inter</vt:lpstr>
      <vt:lpstr>Poppins Bold</vt:lpstr>
      <vt:lpstr>Inter 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Cream Clean and Simple Social Media Marketing Report Presentation</dc:title>
  <cp:lastModifiedBy>Aryal, Subriti</cp:lastModifiedBy>
  <cp:revision>5</cp:revision>
  <dcterms:created xsi:type="dcterms:W3CDTF">2006-08-16T00:00:00Z</dcterms:created>
  <dcterms:modified xsi:type="dcterms:W3CDTF">2025-12-02T18:52:32Z</dcterms:modified>
  <dc:identifier>DAG6Som47nk</dc:identifier>
</cp:coreProperties>
</file>