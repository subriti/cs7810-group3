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x="18288000" cy="10287000"/>
  <p:notesSz cx="6858000" cy="9144000"/>
  <p:embeddedFontLst>
    <p:embeddedFont>
      <p:font typeface="Inter Semi-Bold" charset="1" panose="02000503000000020004"/>
      <p:regular r:id="rId19"/>
    </p:embeddedFont>
    <p:embeddedFont>
      <p:font typeface="Inter Light" charset="1" panose="02000503000000020004"/>
      <p:regular r:id="rId20"/>
    </p:embeddedFont>
    <p:embeddedFont>
      <p:font typeface="Inter" charset="1" panose="020B0502030000000004"/>
      <p:regular r:id="rId21"/>
    </p:embeddedFont>
    <p:embeddedFont>
      <p:font typeface="Inter Bold" charset="1" panose="020B0802030000000004"/>
      <p:regular r:id="rId22"/>
    </p:embeddedFont>
    <p:embeddedFont>
      <p:font typeface="Poppins" charset="1" panose="00000500000000000000"/>
      <p:regular r:id="rId23"/>
    </p:embeddedFont>
    <p:embeddedFont>
      <p:font typeface="Poppins Bold" charset="1" panose="00000800000000000000"/>
      <p:regular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Relationship Id="rId3" Target="../media/image5.jpeg" Type="http://schemas.openxmlformats.org/officeDocument/2006/relationships/image"/><Relationship Id="rId4" Target="../media/image6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E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5400000">
            <a:off x="-3360968" y="2893408"/>
            <a:ext cx="10730064" cy="4500183"/>
            <a:chOff x="0" y="0"/>
            <a:chExt cx="3845413" cy="161276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845413" cy="1612764"/>
            </a:xfrm>
            <a:custGeom>
              <a:avLst/>
              <a:gdLst/>
              <a:ahLst/>
              <a:cxnLst/>
              <a:rect r="r" b="b" t="t" l="l"/>
              <a:pathLst>
                <a:path h="1612764" w="3845413">
                  <a:moveTo>
                    <a:pt x="0" y="0"/>
                  </a:moveTo>
                  <a:lnTo>
                    <a:pt x="3845413" y="0"/>
                  </a:lnTo>
                  <a:lnTo>
                    <a:pt x="3845413" y="1612764"/>
                  </a:lnTo>
                  <a:lnTo>
                    <a:pt x="0" y="1612764"/>
                  </a:lnTo>
                  <a:close/>
                </a:path>
              </a:pathLst>
            </a:custGeom>
            <a:solidFill>
              <a:srgbClr val="F6F5F3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3845413" cy="16603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5231819" y="5798189"/>
            <a:ext cx="11049817" cy="28543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24"/>
              </a:lnSpc>
            </a:pPr>
            <a:r>
              <a:rPr lang="en-US" b="true" sz="8499" spc="-637">
                <a:solidFill>
                  <a:srgbClr val="403E3E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CS RESEARCH KNOWLEDGE GRAPH</a:t>
            </a:r>
          </a:p>
          <a:p>
            <a:pPr algn="l">
              <a:lnSpc>
                <a:spcPts val="7224"/>
              </a:lnSpc>
            </a:pP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3779965" y="1028700"/>
            <a:ext cx="948381" cy="1520727"/>
          </a:xfrm>
          <a:custGeom>
            <a:avLst/>
            <a:gdLst/>
            <a:ahLst/>
            <a:cxnLst/>
            <a:rect r="r" b="b" t="t" l="l"/>
            <a:pathLst>
              <a:path h="1520727" w="948381">
                <a:moveTo>
                  <a:pt x="0" y="0"/>
                </a:moveTo>
                <a:lnTo>
                  <a:pt x="948381" y="0"/>
                </a:lnTo>
                <a:lnTo>
                  <a:pt x="948381" y="1520727"/>
                </a:lnTo>
                <a:lnTo>
                  <a:pt x="0" y="152072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5331592" y="2912110"/>
            <a:ext cx="6213575" cy="1261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040"/>
              </a:lnSpc>
              <a:spcBef>
                <a:spcPct val="0"/>
              </a:spcBef>
            </a:pPr>
            <a:r>
              <a:rPr lang="en-US" sz="3600" spc="-270">
                <a:solidFill>
                  <a:srgbClr val="403E3E"/>
                </a:solidFill>
                <a:latin typeface="Inter Light"/>
                <a:ea typeface="Inter Light"/>
                <a:cs typeface="Inter Light"/>
                <a:sym typeface="Inter Light"/>
              </a:rPr>
              <a:t>INTRODUCTION TO KNOWLEDGE ENGINEERING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904430" y="8614410"/>
            <a:ext cx="4279181" cy="1249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spc="-72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JULIA</a:t>
            </a:r>
            <a:r>
              <a:rPr lang="en-US" sz="1800" spc="-72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 GRACE M</a:t>
            </a:r>
          </a:p>
          <a:p>
            <a:pPr algn="l">
              <a:lnSpc>
                <a:spcPts val="2520"/>
              </a:lnSpc>
            </a:pPr>
            <a:r>
              <a:rPr lang="en-US" sz="1800" spc="-72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MOSES RAJ M</a:t>
            </a:r>
          </a:p>
          <a:p>
            <a:pPr algn="l">
              <a:lnSpc>
                <a:spcPts val="2520"/>
              </a:lnSpc>
            </a:pPr>
            <a:r>
              <a:rPr lang="en-US" sz="1800" spc="-72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SUBRITI</a:t>
            </a:r>
          </a:p>
          <a:p>
            <a:pPr algn="l" marL="0" indent="0" lvl="0">
              <a:lnSpc>
                <a:spcPts val="2520"/>
              </a:lnSpc>
              <a:spcBef>
                <a:spcPct val="0"/>
              </a:spcBef>
            </a:pPr>
            <a:r>
              <a:rPr lang="en-US" sz="1800" spc="-72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SUMANTH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4856550" y="721995"/>
            <a:ext cx="2850172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520"/>
              </a:lnSpc>
              <a:spcBef>
                <a:spcPct val="0"/>
              </a:spcBef>
            </a:pPr>
            <a:r>
              <a:rPr lang="en-US" sz="1800" spc="-72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DEC 2025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E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653496" y="2560744"/>
            <a:ext cx="13605804" cy="5436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2240"/>
              </a:lnSpc>
              <a:spcBef>
                <a:spcPct val="0"/>
              </a:spcBef>
            </a:pPr>
          </a:p>
          <a:p>
            <a:pPr algn="just" marL="669283" indent="-334641" lvl="1">
              <a:lnSpc>
                <a:spcPts val="4339"/>
              </a:lnSpc>
              <a:spcBef>
                <a:spcPct val="0"/>
              </a:spcBef>
              <a:buFont typeface="Arial"/>
              <a:buChar char="•"/>
            </a:pP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R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es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ea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r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ch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 i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n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CS g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ene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ra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te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s 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t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ho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u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s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a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n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ds o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f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pap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er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s, p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ate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n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t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s,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 a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nd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gr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a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nt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s 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every ye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a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r.</a:t>
            </a:r>
          </a:p>
          <a:p>
            <a:pPr algn="just">
              <a:lnSpc>
                <a:spcPts val="4339"/>
              </a:lnSpc>
              <a:spcBef>
                <a:spcPct val="0"/>
              </a:spcBef>
            </a:pPr>
          </a:p>
          <a:p>
            <a:pPr algn="just" marL="669283" indent="-334641" lvl="1">
              <a:lnSpc>
                <a:spcPts val="4339"/>
              </a:lnSpc>
              <a:spcBef>
                <a:spcPct val="0"/>
              </a:spcBef>
              <a:buFont typeface="Arial"/>
              <a:buChar char="•"/>
            </a:pP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All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 of t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hese are stored in different datasets: DBLP, NSF, USPTO.</a:t>
            </a:r>
          </a:p>
          <a:p>
            <a:pPr algn="just">
              <a:lnSpc>
                <a:spcPts val="4339"/>
              </a:lnSpc>
              <a:spcBef>
                <a:spcPct val="0"/>
              </a:spcBef>
            </a:pPr>
          </a:p>
          <a:p>
            <a:pPr algn="just" marL="669283" indent="-334641" lvl="1">
              <a:lnSpc>
                <a:spcPts val="4339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099" spc="-68" strike="noStrike" u="none">
                <a:solidFill>
                  <a:srgbClr val="403E3E"/>
                </a:solidFill>
                <a:latin typeface="Inter Bold"/>
                <a:ea typeface="Inter Bold"/>
                <a:cs typeface="Inter Bold"/>
                <a:sym typeface="Inter Bold"/>
              </a:rPr>
              <a:t>Cha</a:t>
            </a:r>
            <a:r>
              <a:rPr lang="en-US" b="true" sz="3099" spc="-68" strike="noStrike" u="none">
                <a:solidFill>
                  <a:srgbClr val="403E3E"/>
                </a:solidFill>
                <a:latin typeface="Inter Bold"/>
                <a:ea typeface="Inter Bold"/>
                <a:cs typeface="Inter Bold"/>
                <a:sym typeface="Inter Bold"/>
              </a:rPr>
              <a:t>l</a:t>
            </a:r>
            <a:r>
              <a:rPr lang="en-US" b="true" sz="3099" spc="-68" strike="noStrike" u="none">
                <a:solidFill>
                  <a:srgbClr val="403E3E"/>
                </a:solidFill>
                <a:latin typeface="Inter Bold"/>
                <a:ea typeface="Inter Bold"/>
                <a:cs typeface="Inter Bold"/>
                <a:sym typeface="Inter Bold"/>
              </a:rPr>
              <a:t>len</a:t>
            </a:r>
            <a:r>
              <a:rPr lang="en-US" b="true" sz="3099" spc="-68" strike="noStrike" u="none">
                <a:solidFill>
                  <a:srgbClr val="403E3E"/>
                </a:solidFill>
                <a:latin typeface="Inter Bold"/>
                <a:ea typeface="Inter Bold"/>
                <a:cs typeface="Inter Bold"/>
                <a:sym typeface="Inter Bold"/>
              </a:rPr>
              <a:t>g</a:t>
            </a:r>
            <a:r>
              <a:rPr lang="en-US" b="true" sz="3099" spc="-68" strike="noStrike" u="none">
                <a:solidFill>
                  <a:srgbClr val="403E3E"/>
                </a:solidFill>
                <a:latin typeface="Inter Bold"/>
                <a:ea typeface="Inter Bold"/>
                <a:cs typeface="Inter Bold"/>
                <a:sym typeface="Inter Bold"/>
              </a:rPr>
              <a:t>e: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la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ck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 o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f u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n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ified stru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c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t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u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re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for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analyz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in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g CS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 r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e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s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ear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c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h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 e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vo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l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ution.</a:t>
            </a:r>
          </a:p>
          <a:p>
            <a:pPr algn="just">
              <a:lnSpc>
                <a:spcPts val="4339"/>
              </a:lnSpc>
              <a:spcBef>
                <a:spcPct val="0"/>
              </a:spcBef>
            </a:pPr>
          </a:p>
          <a:p>
            <a:pPr algn="just" marL="669283" indent="-334641" lvl="1">
              <a:lnSpc>
                <a:spcPts val="4339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099" spc="-68" strike="noStrike" u="none">
                <a:solidFill>
                  <a:srgbClr val="403E3E"/>
                </a:solidFill>
                <a:latin typeface="Inter Bold"/>
                <a:ea typeface="Inter Bold"/>
                <a:cs typeface="Inter Bold"/>
                <a:sym typeface="Inter Bold"/>
              </a:rPr>
              <a:t>Goa</a:t>
            </a:r>
            <a:r>
              <a:rPr lang="en-US" b="true" sz="3099" spc="-68" strike="noStrike" u="none">
                <a:solidFill>
                  <a:srgbClr val="403E3E"/>
                </a:solidFill>
                <a:latin typeface="Inter Bold"/>
                <a:ea typeface="Inter Bold"/>
                <a:cs typeface="Inter Bold"/>
                <a:sym typeface="Inter Bold"/>
              </a:rPr>
              <a:t>l</a:t>
            </a:r>
            <a:r>
              <a:rPr lang="en-US" b="true" sz="3099" spc="-68" strike="noStrike" u="none">
                <a:solidFill>
                  <a:srgbClr val="403E3E"/>
                </a:solidFill>
                <a:latin typeface="Inter Bold"/>
                <a:ea typeface="Inter Bold"/>
                <a:cs typeface="Inter Bold"/>
                <a:sym typeface="Inter Bold"/>
              </a:rPr>
              <a:t>: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 Creat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e 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a sema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nt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ic knowl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e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dg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e 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graph 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con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necting fun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din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g, p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u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bl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i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c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a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t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i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on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s, 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innova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t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i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o</a:t>
            </a:r>
            <a:r>
              <a:rPr lang="en-US" sz="3099" spc="-68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n in the field of CS</a:t>
            </a:r>
          </a:p>
          <a:p>
            <a:pPr algn="just" marL="0" indent="0" lvl="0">
              <a:lnSpc>
                <a:spcPts val="2240"/>
              </a:lnSpc>
              <a:spcBef>
                <a:spcPct val="0"/>
              </a:spcBef>
            </a:pPr>
          </a:p>
        </p:txBody>
      </p:sp>
      <p:sp>
        <p:nvSpPr>
          <p:cNvPr name="TextBox 3" id="3"/>
          <p:cNvSpPr txBox="true"/>
          <p:nvPr/>
        </p:nvSpPr>
        <p:spPr>
          <a:xfrm rot="0">
            <a:off x="5251437" y="1481032"/>
            <a:ext cx="7959169" cy="6680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60"/>
              </a:lnSpc>
            </a:pPr>
            <a:r>
              <a:rPr lang="en-US" sz="5600" spc="-420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Introduction</a:t>
            </a:r>
          </a:p>
        </p:txBody>
      </p:sp>
      <p:grpSp>
        <p:nvGrpSpPr>
          <p:cNvPr name="Group 4" id="4"/>
          <p:cNvGrpSpPr/>
          <p:nvPr/>
        </p:nvGrpSpPr>
        <p:grpSpPr>
          <a:xfrm rot="5400000">
            <a:off x="-4601476" y="2727751"/>
            <a:ext cx="10730064" cy="4831498"/>
            <a:chOff x="0" y="0"/>
            <a:chExt cx="3845413" cy="17315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845413" cy="1731500"/>
            </a:xfrm>
            <a:custGeom>
              <a:avLst/>
              <a:gdLst/>
              <a:ahLst/>
              <a:cxnLst/>
              <a:rect r="r" b="b" t="t" l="l"/>
              <a:pathLst>
                <a:path h="1731500" w="3845413">
                  <a:moveTo>
                    <a:pt x="0" y="0"/>
                  </a:moveTo>
                  <a:lnTo>
                    <a:pt x="3845413" y="0"/>
                  </a:lnTo>
                  <a:lnTo>
                    <a:pt x="3845413" y="1731500"/>
                  </a:lnTo>
                  <a:lnTo>
                    <a:pt x="0" y="1731500"/>
                  </a:lnTo>
                  <a:close/>
                </a:path>
              </a:pathLst>
            </a:custGeom>
            <a:solidFill>
              <a:srgbClr val="F6F5F3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3845413" cy="1779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name="Freeform 7" id="7"/>
          <p:cNvSpPr/>
          <p:nvPr/>
        </p:nvSpPr>
        <p:spPr>
          <a:xfrm flipH="false" flipV="false" rot="0">
            <a:off x="2705115" y="628325"/>
            <a:ext cx="948381" cy="1520727"/>
          </a:xfrm>
          <a:custGeom>
            <a:avLst/>
            <a:gdLst/>
            <a:ahLst/>
            <a:cxnLst/>
            <a:rect r="r" b="b" t="t" l="l"/>
            <a:pathLst>
              <a:path h="1520727" w="948381">
                <a:moveTo>
                  <a:pt x="0" y="0"/>
                </a:moveTo>
                <a:lnTo>
                  <a:pt x="948381" y="0"/>
                </a:lnTo>
                <a:lnTo>
                  <a:pt x="948381" y="1520727"/>
                </a:lnTo>
                <a:lnTo>
                  <a:pt x="0" y="152072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5400000">
            <a:off x="12432431" y="4605338"/>
            <a:ext cx="10730064" cy="1076325"/>
            <a:chOff x="0" y="0"/>
            <a:chExt cx="3845413" cy="38573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845413" cy="385731"/>
            </a:xfrm>
            <a:custGeom>
              <a:avLst/>
              <a:gdLst/>
              <a:ahLst/>
              <a:cxnLst/>
              <a:rect r="r" b="b" t="t" l="l"/>
              <a:pathLst>
                <a:path h="385731" w="3845413">
                  <a:moveTo>
                    <a:pt x="0" y="0"/>
                  </a:moveTo>
                  <a:lnTo>
                    <a:pt x="3845413" y="0"/>
                  </a:lnTo>
                  <a:lnTo>
                    <a:pt x="3845413" y="385731"/>
                  </a:lnTo>
                  <a:lnTo>
                    <a:pt x="0" y="385731"/>
                  </a:lnTo>
                  <a:close/>
                </a:path>
              </a:pathLst>
            </a:custGeom>
            <a:solidFill>
              <a:srgbClr val="FDFDFA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3845413" cy="4333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3601253" y="2119602"/>
            <a:ext cx="11085494" cy="7353378"/>
          </a:xfrm>
          <a:custGeom>
            <a:avLst/>
            <a:gdLst/>
            <a:ahLst/>
            <a:cxnLst/>
            <a:rect r="r" b="b" t="t" l="l"/>
            <a:pathLst>
              <a:path h="7353378" w="11085494">
                <a:moveTo>
                  <a:pt x="0" y="0"/>
                </a:moveTo>
                <a:lnTo>
                  <a:pt x="11085494" y="0"/>
                </a:lnTo>
                <a:lnTo>
                  <a:pt x="11085494" y="7353378"/>
                </a:lnTo>
                <a:lnTo>
                  <a:pt x="0" y="735337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848620" y="1056534"/>
            <a:ext cx="7959169" cy="6680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760"/>
              </a:lnSpc>
              <a:spcBef>
                <a:spcPct val="0"/>
              </a:spcBef>
            </a:pPr>
            <a:r>
              <a:rPr lang="en-US" sz="5600" spc="-420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Schema</a:t>
            </a:r>
            <a:r>
              <a:rPr lang="en-US" sz="5600" spc="-420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 Diagram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E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653496" y="2522644"/>
            <a:ext cx="13605804" cy="6366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777230" indent="-388615" lvl="1">
              <a:lnSpc>
                <a:spcPts val="5039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599" spc="-79">
                <a:solidFill>
                  <a:srgbClr val="403E3E"/>
                </a:solidFill>
                <a:latin typeface="Inter Bold"/>
                <a:ea typeface="Inter Bold"/>
                <a:cs typeface="Inter Bold"/>
                <a:sym typeface="Inter Bold"/>
              </a:rPr>
              <a:t>C</a:t>
            </a:r>
            <a:r>
              <a:rPr lang="en-US" b="true" sz="3599" spc="-79">
                <a:solidFill>
                  <a:srgbClr val="403E3E"/>
                </a:solidFill>
                <a:latin typeface="Inter Bold"/>
                <a:ea typeface="Inter Bold"/>
                <a:cs typeface="Inter Bold"/>
                <a:sym typeface="Inter Bold"/>
              </a:rPr>
              <a:t>ore</a:t>
            </a:r>
            <a:r>
              <a:rPr lang="en-US" b="true" sz="3599" spc="-79" strike="noStrike" u="none">
                <a:solidFill>
                  <a:srgbClr val="403E3E"/>
                </a:solidFill>
                <a:latin typeface="Inter Bold"/>
                <a:ea typeface="Inter Bold"/>
                <a:cs typeface="Inter Bold"/>
                <a:sym typeface="Inter Bold"/>
              </a:rPr>
              <a:t> </a:t>
            </a:r>
            <a:r>
              <a:rPr lang="en-US" b="true" sz="3599" spc="-79">
                <a:solidFill>
                  <a:srgbClr val="403E3E"/>
                </a:solidFill>
                <a:latin typeface="Inter Bold"/>
                <a:ea typeface="Inter Bold"/>
                <a:cs typeface="Inter Bold"/>
                <a:sym typeface="Inter Bold"/>
              </a:rPr>
              <a:t>c</a:t>
            </a:r>
            <a:r>
              <a:rPr lang="en-US" b="true" sz="3599" spc="-79" strike="noStrike" u="none">
                <a:solidFill>
                  <a:srgbClr val="403E3E"/>
                </a:solidFill>
                <a:latin typeface="Inter Bold"/>
                <a:ea typeface="Inter Bold"/>
                <a:cs typeface="Inter Bold"/>
                <a:sym typeface="Inter Bold"/>
              </a:rPr>
              <a:t>lass</a:t>
            </a:r>
            <a:r>
              <a:rPr lang="en-US" b="true" sz="3599" spc="-79">
                <a:solidFill>
                  <a:srgbClr val="403E3E"/>
                </a:solidFill>
                <a:latin typeface="Inter Bold"/>
                <a:ea typeface="Inter Bold"/>
                <a:cs typeface="Inter Bold"/>
                <a:sym typeface="Inter Bold"/>
              </a:rPr>
              <a:t>e</a:t>
            </a:r>
            <a:r>
              <a:rPr lang="en-US" b="true" sz="3599" spc="-79" strike="noStrike" u="none">
                <a:solidFill>
                  <a:srgbClr val="403E3E"/>
                </a:solidFill>
                <a:latin typeface="Inter Bold"/>
                <a:ea typeface="Inter Bold"/>
                <a:cs typeface="Inter Bold"/>
                <a:sym typeface="Inter Bold"/>
              </a:rPr>
              <a:t>s:</a:t>
            </a:r>
          </a:p>
          <a:p>
            <a:pPr algn="just">
              <a:lnSpc>
                <a:spcPts val="5039"/>
              </a:lnSpc>
              <a:spcBef>
                <a:spcPct val="0"/>
              </a:spcBef>
            </a:pPr>
          </a:p>
          <a:p>
            <a:pPr algn="just">
              <a:lnSpc>
                <a:spcPts val="5039"/>
              </a:lnSpc>
              <a:spcBef>
                <a:spcPct val="0"/>
              </a:spcBef>
            </a:pPr>
            <a:r>
              <a:rPr lang="en-US" sz="3599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Pap</a:t>
            </a:r>
            <a:r>
              <a:rPr lang="en-US" sz="3599" spc="-79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e</a:t>
            </a:r>
            <a:r>
              <a:rPr lang="en-US" sz="3599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r,</a:t>
            </a:r>
            <a:r>
              <a:rPr lang="en-US" sz="3599" spc="-79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3599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Pa</a:t>
            </a:r>
            <a:r>
              <a:rPr lang="en-US" sz="3599" spc="-79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te</a:t>
            </a:r>
            <a:r>
              <a:rPr lang="en-US" sz="3599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n</a:t>
            </a:r>
            <a:r>
              <a:rPr lang="en-US" sz="3599" spc="-79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t</a:t>
            </a:r>
            <a:r>
              <a:rPr lang="en-US" sz="3599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,</a:t>
            </a:r>
            <a:r>
              <a:rPr lang="en-US" sz="3599" spc="-79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3599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G</a:t>
            </a:r>
            <a:r>
              <a:rPr lang="en-US" sz="3599" spc="-79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rant</a:t>
            </a:r>
            <a:r>
              <a:rPr lang="en-US" sz="3599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,</a:t>
            </a:r>
            <a:r>
              <a:rPr lang="en-US" sz="3599" spc="-79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 A</a:t>
            </a:r>
            <a:r>
              <a:rPr lang="en-US" sz="3599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u</a:t>
            </a:r>
            <a:r>
              <a:rPr lang="en-US" sz="3599" spc="-79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th</a:t>
            </a:r>
            <a:r>
              <a:rPr lang="en-US" sz="3599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o</a:t>
            </a:r>
            <a:r>
              <a:rPr lang="en-US" sz="3599" spc="-79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r</a:t>
            </a:r>
            <a:r>
              <a:rPr lang="en-US" sz="3599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,</a:t>
            </a:r>
            <a:r>
              <a:rPr lang="en-US" sz="3599" spc="-79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3599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I</a:t>
            </a:r>
            <a:r>
              <a:rPr lang="en-US" sz="3599" spc="-79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ns</a:t>
            </a:r>
            <a:r>
              <a:rPr lang="en-US" sz="3599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t</a:t>
            </a:r>
            <a:r>
              <a:rPr lang="en-US" sz="3599" spc="-79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it</a:t>
            </a:r>
            <a:r>
              <a:rPr lang="en-US" sz="3599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uti</a:t>
            </a:r>
            <a:r>
              <a:rPr lang="en-US" sz="3599" spc="-79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on</a:t>
            </a:r>
            <a:r>
              <a:rPr lang="en-US" sz="3599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,</a:t>
            </a:r>
            <a:r>
              <a:rPr lang="en-US" sz="3599" spc="-79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3599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T</a:t>
            </a:r>
            <a:r>
              <a:rPr lang="en-US" sz="3599" spc="-79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opic, </a:t>
            </a:r>
            <a:r>
              <a:rPr lang="en-US" sz="3599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Tr</a:t>
            </a:r>
            <a:r>
              <a:rPr lang="en-US" sz="3599" spc="-79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a</a:t>
            </a:r>
            <a:r>
              <a:rPr lang="en-US" sz="3599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ject</a:t>
            </a:r>
            <a:r>
              <a:rPr lang="en-US" sz="3599" spc="-79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o</a:t>
            </a:r>
            <a:r>
              <a:rPr lang="en-US" sz="3599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r</a:t>
            </a:r>
            <a:r>
              <a:rPr lang="en-US" sz="3599" spc="-79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y</a:t>
            </a:r>
            <a:r>
              <a:rPr lang="en-US" sz="3599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,</a:t>
            </a:r>
            <a:r>
              <a:rPr lang="en-US" sz="3599" spc="-79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3599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F</a:t>
            </a:r>
            <a:r>
              <a:rPr lang="en-US" sz="3599" spc="-79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i</a:t>
            </a:r>
            <a:r>
              <a:rPr lang="en-US" sz="3599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x,</a:t>
            </a:r>
            <a:r>
              <a:rPr lang="en-US" sz="3599" spc="-79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 Sp</a:t>
            </a:r>
            <a:r>
              <a:rPr lang="en-US" sz="3599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ati</a:t>
            </a:r>
            <a:r>
              <a:rPr lang="en-US" sz="3599" spc="-79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ot</a:t>
            </a:r>
            <a:r>
              <a:rPr lang="en-US" sz="3599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em</a:t>
            </a:r>
            <a:r>
              <a:rPr lang="en-US" sz="3599" spc="-79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p</a:t>
            </a:r>
            <a:r>
              <a:rPr lang="en-US" sz="3599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o</a:t>
            </a:r>
            <a:r>
              <a:rPr lang="en-US" sz="3599" spc="-79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r</a:t>
            </a:r>
            <a:r>
              <a:rPr lang="en-US" sz="3599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alExt</a:t>
            </a:r>
            <a:r>
              <a:rPr lang="en-US" sz="3599" spc="-79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e</a:t>
            </a:r>
            <a:r>
              <a:rPr lang="en-US" sz="3599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n</a:t>
            </a:r>
            <a:r>
              <a:rPr lang="en-US" sz="3599" spc="-79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t</a:t>
            </a:r>
          </a:p>
          <a:p>
            <a:pPr algn="just">
              <a:lnSpc>
                <a:spcPts val="5039"/>
              </a:lnSpc>
              <a:spcBef>
                <a:spcPct val="0"/>
              </a:spcBef>
            </a:pPr>
          </a:p>
          <a:p>
            <a:pPr algn="just" marL="777230" indent="-388615" lvl="1">
              <a:lnSpc>
                <a:spcPts val="5039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599" spc="-79" strike="noStrike" u="none">
                <a:solidFill>
                  <a:srgbClr val="403E3E"/>
                </a:solidFill>
                <a:latin typeface="Inter Bold"/>
                <a:ea typeface="Inter Bold"/>
                <a:cs typeface="Inter Bold"/>
                <a:sym typeface="Inter Bold"/>
              </a:rPr>
              <a:t>K</a:t>
            </a:r>
            <a:r>
              <a:rPr lang="en-US" b="true" sz="3599" spc="-79">
                <a:solidFill>
                  <a:srgbClr val="403E3E"/>
                </a:solidFill>
                <a:latin typeface="Inter Bold"/>
                <a:ea typeface="Inter Bold"/>
                <a:cs typeface="Inter Bold"/>
                <a:sym typeface="Inter Bold"/>
              </a:rPr>
              <a:t>e</a:t>
            </a:r>
            <a:r>
              <a:rPr lang="en-US" b="true" sz="3599" spc="-79" strike="noStrike" u="none">
                <a:solidFill>
                  <a:srgbClr val="403E3E"/>
                </a:solidFill>
                <a:latin typeface="Inter Bold"/>
                <a:ea typeface="Inter Bold"/>
                <a:cs typeface="Inter Bold"/>
                <a:sym typeface="Inter Bold"/>
              </a:rPr>
              <a:t>y</a:t>
            </a:r>
            <a:r>
              <a:rPr lang="en-US" b="true" sz="3599" spc="-79">
                <a:solidFill>
                  <a:srgbClr val="403E3E"/>
                </a:solidFill>
                <a:latin typeface="Inter Bold"/>
                <a:ea typeface="Inter Bold"/>
                <a:cs typeface="Inter Bold"/>
                <a:sym typeface="Inter Bold"/>
              </a:rPr>
              <a:t> </a:t>
            </a:r>
            <a:r>
              <a:rPr lang="en-US" b="true" sz="3599" spc="-79" strike="noStrike" u="none">
                <a:solidFill>
                  <a:srgbClr val="403E3E"/>
                </a:solidFill>
                <a:latin typeface="Inter Bold"/>
                <a:ea typeface="Inter Bold"/>
                <a:cs typeface="Inter Bold"/>
                <a:sym typeface="Inter Bold"/>
              </a:rPr>
              <a:t>r</a:t>
            </a:r>
            <a:r>
              <a:rPr lang="en-US" b="true" sz="3599" spc="-79">
                <a:solidFill>
                  <a:srgbClr val="403E3E"/>
                </a:solidFill>
                <a:latin typeface="Inter Bold"/>
                <a:ea typeface="Inter Bold"/>
                <a:cs typeface="Inter Bold"/>
                <a:sym typeface="Inter Bold"/>
              </a:rPr>
              <a:t>e</a:t>
            </a:r>
            <a:r>
              <a:rPr lang="en-US" b="true" sz="3599" spc="-79" strike="noStrike" u="none">
                <a:solidFill>
                  <a:srgbClr val="403E3E"/>
                </a:solidFill>
                <a:latin typeface="Inter Bold"/>
                <a:ea typeface="Inter Bold"/>
                <a:cs typeface="Inter Bold"/>
                <a:sym typeface="Inter Bold"/>
              </a:rPr>
              <a:t>l</a:t>
            </a:r>
            <a:r>
              <a:rPr lang="en-US" b="true" sz="3599" spc="-79">
                <a:solidFill>
                  <a:srgbClr val="403E3E"/>
                </a:solidFill>
                <a:latin typeface="Inter Bold"/>
                <a:ea typeface="Inter Bold"/>
                <a:cs typeface="Inter Bold"/>
                <a:sym typeface="Inter Bold"/>
              </a:rPr>
              <a:t>ation</a:t>
            </a:r>
            <a:r>
              <a:rPr lang="en-US" b="true" sz="3599" spc="-79" strike="noStrike" u="none">
                <a:solidFill>
                  <a:srgbClr val="403E3E"/>
                </a:solidFill>
                <a:latin typeface="Inter Bold"/>
                <a:ea typeface="Inter Bold"/>
                <a:cs typeface="Inter Bold"/>
                <a:sym typeface="Inter Bold"/>
              </a:rPr>
              <a:t>s:</a:t>
            </a:r>
          </a:p>
          <a:p>
            <a:pPr algn="just">
              <a:lnSpc>
                <a:spcPts val="5039"/>
              </a:lnSpc>
              <a:spcBef>
                <a:spcPct val="0"/>
              </a:spcBef>
            </a:pPr>
          </a:p>
          <a:p>
            <a:pPr algn="just">
              <a:lnSpc>
                <a:spcPts val="5039"/>
              </a:lnSpc>
              <a:spcBef>
                <a:spcPct val="0"/>
              </a:spcBef>
            </a:pPr>
            <a:r>
              <a:rPr lang="en-US" sz="3599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writes,</a:t>
            </a:r>
            <a:r>
              <a:rPr lang="en-US" sz="3599" spc="-79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3599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p</a:t>
            </a:r>
            <a:r>
              <a:rPr lang="en-US" sz="3599" spc="-79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e</a:t>
            </a:r>
            <a:r>
              <a:rPr lang="en-US" sz="3599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rf</a:t>
            </a:r>
            <a:r>
              <a:rPr lang="en-US" sz="3599" spc="-79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o</a:t>
            </a:r>
            <a:r>
              <a:rPr lang="en-US" sz="3599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rms,</a:t>
            </a:r>
            <a:r>
              <a:rPr lang="en-US" sz="3599" spc="-79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 m</a:t>
            </a:r>
            <a:r>
              <a:rPr lang="en-US" sz="3599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a</a:t>
            </a:r>
            <a:r>
              <a:rPr lang="en-US" sz="3599" spc="-79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n</a:t>
            </a:r>
            <a:r>
              <a:rPr lang="en-US" sz="3599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a</a:t>
            </a:r>
            <a:r>
              <a:rPr lang="en-US" sz="3599" spc="-79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g</a:t>
            </a:r>
            <a:r>
              <a:rPr lang="en-US" sz="3599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es, </a:t>
            </a:r>
            <a:r>
              <a:rPr lang="en-US" sz="3599" spc="-79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has</a:t>
            </a:r>
            <a:r>
              <a:rPr lang="en-US" sz="3599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T</a:t>
            </a:r>
            <a:r>
              <a:rPr lang="en-US" sz="3599" spc="-79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opic</a:t>
            </a:r>
            <a:r>
              <a:rPr lang="en-US" sz="3599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, h</a:t>
            </a:r>
            <a:r>
              <a:rPr lang="en-US" sz="3599" spc="-79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as</a:t>
            </a:r>
            <a:r>
              <a:rPr lang="en-US" sz="3599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F</a:t>
            </a:r>
            <a:r>
              <a:rPr lang="en-US" sz="3599" spc="-79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i</a:t>
            </a:r>
            <a:r>
              <a:rPr lang="en-US" sz="3599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x, </a:t>
            </a:r>
            <a:r>
              <a:rPr lang="en-US" sz="3599" spc="-79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in</a:t>
            </a:r>
            <a:r>
              <a:rPr lang="en-US" sz="3599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fl</a:t>
            </a:r>
            <a:r>
              <a:rPr lang="en-US" sz="3599" spc="-79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u</a:t>
            </a:r>
            <a:r>
              <a:rPr lang="en-US" sz="3599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e</a:t>
            </a:r>
            <a:r>
              <a:rPr lang="en-US" sz="3599" spc="-79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n</a:t>
            </a:r>
            <a:r>
              <a:rPr lang="en-US" sz="3599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ce</a:t>
            </a:r>
            <a:r>
              <a:rPr lang="en-US" sz="3599" spc="-79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s</a:t>
            </a:r>
            <a:r>
              <a:rPr lang="en-US" sz="3599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,</a:t>
            </a:r>
            <a:r>
              <a:rPr lang="en-US" sz="3599" spc="-79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 h</a:t>
            </a:r>
            <a:r>
              <a:rPr lang="en-US" sz="3599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a</a:t>
            </a:r>
            <a:r>
              <a:rPr lang="en-US" sz="3599" spc="-79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s</a:t>
            </a:r>
            <a:r>
              <a:rPr lang="en-US" sz="3599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G</a:t>
            </a:r>
            <a:r>
              <a:rPr lang="en-US" sz="3599" spc="-79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ra</a:t>
            </a:r>
            <a:r>
              <a:rPr lang="en-US" sz="3599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n</a:t>
            </a:r>
            <a:r>
              <a:rPr lang="en-US" sz="3599" spc="-79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t</a:t>
            </a:r>
            <a:r>
              <a:rPr lang="en-US" sz="3599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Ev</a:t>
            </a:r>
            <a:r>
              <a:rPr lang="en-US" sz="3599" spc="-79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e</a:t>
            </a:r>
            <a:r>
              <a:rPr lang="en-US" sz="3599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nt,</a:t>
            </a:r>
            <a:r>
              <a:rPr lang="en-US" sz="3599" spc="-79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3599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partOfT</a:t>
            </a:r>
            <a:r>
              <a:rPr lang="en-US" sz="3599" spc="-79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ra</a:t>
            </a:r>
            <a:r>
              <a:rPr lang="en-US" sz="3599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jectory, e</a:t>
            </a:r>
            <a:r>
              <a:rPr lang="en-US" sz="3599" spc="-79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t</a:t>
            </a:r>
            <a:r>
              <a:rPr lang="en-US" sz="3599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c.</a:t>
            </a:r>
          </a:p>
          <a:p>
            <a:pPr algn="just" marL="0" indent="0" lvl="0">
              <a:lnSpc>
                <a:spcPts val="5039"/>
              </a:lnSpc>
              <a:spcBef>
                <a:spcPct val="0"/>
              </a:spcBef>
            </a:pPr>
          </a:p>
        </p:txBody>
      </p:sp>
      <p:sp>
        <p:nvSpPr>
          <p:cNvPr name="TextBox 3" id="3"/>
          <p:cNvSpPr txBox="true"/>
          <p:nvPr/>
        </p:nvSpPr>
        <p:spPr>
          <a:xfrm rot="0">
            <a:off x="5251437" y="1481032"/>
            <a:ext cx="7959169" cy="6680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60"/>
              </a:lnSpc>
            </a:pPr>
            <a:r>
              <a:rPr lang="en-US" sz="5600" spc="-420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Classes and Relations</a:t>
            </a:r>
          </a:p>
        </p:txBody>
      </p:sp>
      <p:grpSp>
        <p:nvGrpSpPr>
          <p:cNvPr name="Group 4" id="4"/>
          <p:cNvGrpSpPr/>
          <p:nvPr/>
        </p:nvGrpSpPr>
        <p:grpSpPr>
          <a:xfrm rot="5400000">
            <a:off x="-4601476" y="2727751"/>
            <a:ext cx="10730064" cy="4831498"/>
            <a:chOff x="0" y="0"/>
            <a:chExt cx="3845413" cy="17315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845413" cy="1731500"/>
            </a:xfrm>
            <a:custGeom>
              <a:avLst/>
              <a:gdLst/>
              <a:ahLst/>
              <a:cxnLst/>
              <a:rect r="r" b="b" t="t" l="l"/>
              <a:pathLst>
                <a:path h="1731500" w="3845413">
                  <a:moveTo>
                    <a:pt x="0" y="0"/>
                  </a:moveTo>
                  <a:lnTo>
                    <a:pt x="3845413" y="0"/>
                  </a:lnTo>
                  <a:lnTo>
                    <a:pt x="3845413" y="1731500"/>
                  </a:lnTo>
                  <a:lnTo>
                    <a:pt x="0" y="1731500"/>
                  </a:lnTo>
                  <a:close/>
                </a:path>
              </a:pathLst>
            </a:custGeom>
            <a:solidFill>
              <a:srgbClr val="F6F5F3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3845413" cy="1779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name="Freeform 7" id="7"/>
          <p:cNvSpPr/>
          <p:nvPr/>
        </p:nvSpPr>
        <p:spPr>
          <a:xfrm flipH="false" flipV="false" rot="0">
            <a:off x="2705115" y="628325"/>
            <a:ext cx="948381" cy="1520727"/>
          </a:xfrm>
          <a:custGeom>
            <a:avLst/>
            <a:gdLst/>
            <a:ahLst/>
            <a:cxnLst/>
            <a:rect r="r" b="b" t="t" l="l"/>
            <a:pathLst>
              <a:path h="1520727" w="948381">
                <a:moveTo>
                  <a:pt x="0" y="0"/>
                </a:moveTo>
                <a:lnTo>
                  <a:pt x="948381" y="0"/>
                </a:lnTo>
                <a:lnTo>
                  <a:pt x="948381" y="1520727"/>
                </a:lnTo>
                <a:lnTo>
                  <a:pt x="0" y="152072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403E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620721" y="3393567"/>
            <a:ext cx="5990253" cy="4212319"/>
          </a:xfrm>
          <a:custGeom>
            <a:avLst/>
            <a:gdLst/>
            <a:ahLst/>
            <a:cxnLst/>
            <a:rect r="r" b="b" t="t" l="l"/>
            <a:pathLst>
              <a:path h="4212319" w="5990253">
                <a:moveTo>
                  <a:pt x="0" y="0"/>
                </a:moveTo>
                <a:lnTo>
                  <a:pt x="5990253" y="0"/>
                </a:lnTo>
                <a:lnTo>
                  <a:pt x="5990253" y="4212318"/>
                </a:lnTo>
                <a:lnTo>
                  <a:pt x="0" y="421231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23234" r="0" b="-2323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69688" y="3393567"/>
            <a:ext cx="5717633" cy="4212319"/>
          </a:xfrm>
          <a:custGeom>
            <a:avLst/>
            <a:gdLst/>
            <a:ahLst/>
            <a:cxnLst/>
            <a:rect r="r" b="b" t="t" l="l"/>
            <a:pathLst>
              <a:path h="4212319" w="5717633">
                <a:moveTo>
                  <a:pt x="0" y="0"/>
                </a:moveTo>
                <a:lnTo>
                  <a:pt x="5717633" y="0"/>
                </a:lnTo>
                <a:lnTo>
                  <a:pt x="5717633" y="4212318"/>
                </a:lnTo>
                <a:lnTo>
                  <a:pt x="0" y="421231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6641" r="-47844" b="-5456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3142190" y="2507350"/>
            <a:ext cx="4569064" cy="6356958"/>
          </a:xfrm>
          <a:custGeom>
            <a:avLst/>
            <a:gdLst/>
            <a:ahLst/>
            <a:cxnLst/>
            <a:rect r="r" b="b" t="t" l="l"/>
            <a:pathLst>
              <a:path h="6356958" w="4569064">
                <a:moveTo>
                  <a:pt x="0" y="0"/>
                </a:moveTo>
                <a:lnTo>
                  <a:pt x="4569064" y="0"/>
                </a:lnTo>
                <a:lnTo>
                  <a:pt x="4569064" y="6356958"/>
                </a:lnTo>
                <a:lnTo>
                  <a:pt x="0" y="63569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028700" y="909700"/>
            <a:ext cx="7959169" cy="6680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760"/>
              </a:lnSpc>
              <a:spcBef>
                <a:spcPct val="0"/>
              </a:spcBef>
            </a:pPr>
            <a:r>
              <a:rPr lang="en-US" sz="5600" spc="-420">
                <a:solidFill>
                  <a:srgbClr val="EFEEEC"/>
                </a:solidFill>
                <a:latin typeface="Inter"/>
                <a:ea typeface="Inter"/>
                <a:cs typeface="Inter"/>
                <a:sym typeface="Inter"/>
              </a:rPr>
              <a:t>Axiomatization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1742444"/>
            <a:ext cx="14348594" cy="2832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39"/>
              </a:lnSpc>
              <a:spcBef>
                <a:spcPct val="0"/>
              </a:spcBef>
            </a:pPr>
            <a:r>
              <a:rPr lang="en-US" sz="15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Axiomatization is the process of defining the core rules and constraints of a knowledge domain so that all other facts can be logically derived.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E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5400000">
            <a:off x="-4601476" y="2727751"/>
            <a:ext cx="10730064" cy="4831498"/>
            <a:chOff x="0" y="0"/>
            <a:chExt cx="3845413" cy="1731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845413" cy="1731500"/>
            </a:xfrm>
            <a:custGeom>
              <a:avLst/>
              <a:gdLst/>
              <a:ahLst/>
              <a:cxnLst/>
              <a:rect r="r" b="b" t="t" l="l"/>
              <a:pathLst>
                <a:path h="1731500" w="3845413">
                  <a:moveTo>
                    <a:pt x="0" y="0"/>
                  </a:moveTo>
                  <a:lnTo>
                    <a:pt x="3845413" y="0"/>
                  </a:lnTo>
                  <a:lnTo>
                    <a:pt x="3845413" y="1731500"/>
                  </a:lnTo>
                  <a:lnTo>
                    <a:pt x="0" y="1731500"/>
                  </a:lnTo>
                  <a:close/>
                </a:path>
              </a:pathLst>
            </a:custGeom>
            <a:solidFill>
              <a:srgbClr val="F6F5F3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3845413" cy="1779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2705115" y="628325"/>
            <a:ext cx="948381" cy="1520727"/>
          </a:xfrm>
          <a:custGeom>
            <a:avLst/>
            <a:gdLst/>
            <a:ahLst/>
            <a:cxnLst/>
            <a:rect r="r" b="b" t="t" l="l"/>
            <a:pathLst>
              <a:path h="1520727" w="948381">
                <a:moveTo>
                  <a:pt x="0" y="0"/>
                </a:moveTo>
                <a:lnTo>
                  <a:pt x="948381" y="0"/>
                </a:lnTo>
                <a:lnTo>
                  <a:pt x="948381" y="1520727"/>
                </a:lnTo>
                <a:lnTo>
                  <a:pt x="0" y="152072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3653496" y="1145166"/>
            <a:ext cx="7959169" cy="6680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60"/>
              </a:lnSpc>
            </a:pPr>
            <a:r>
              <a:rPr lang="en-US" sz="5600" spc="-420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Data Transformation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3653496" y="2413232"/>
            <a:ext cx="13875467" cy="814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40"/>
              </a:lnSpc>
              <a:spcBef>
                <a:spcPct val="0"/>
              </a:spcBef>
            </a:pPr>
            <a:r>
              <a:rPr lang="en-US" b="true" sz="3600">
                <a:solidFill>
                  <a:srgbClr val="403E3E"/>
                </a:solidFill>
                <a:latin typeface="Poppins Bold"/>
                <a:ea typeface="Poppins Bold"/>
                <a:cs typeface="Poppins Bold"/>
                <a:sym typeface="Poppins Bold"/>
              </a:rPr>
              <a:t>Common Entities</a:t>
            </a:r>
          </a:p>
          <a:p>
            <a:pPr algn="ctr">
              <a:lnSpc>
                <a:spcPts val="4339"/>
              </a:lnSpc>
              <a:spcBef>
                <a:spcPct val="0"/>
              </a:spcBef>
            </a:pPr>
          </a:p>
          <a:p>
            <a:pPr algn="ctr">
              <a:lnSpc>
                <a:spcPts val="3919"/>
              </a:lnSpc>
              <a:spcBef>
                <a:spcPct val="0"/>
              </a:spcBef>
            </a:pPr>
            <a:r>
              <a:rPr lang="en-US" b="true" sz="2799">
                <a:solidFill>
                  <a:srgbClr val="403E3E"/>
                </a:solidFill>
                <a:latin typeface="Poppins Bold"/>
                <a:ea typeface="Poppins Bold"/>
                <a:cs typeface="Poppins Bold"/>
                <a:sym typeface="Poppins Bold"/>
              </a:rPr>
              <a:t>• Authors </a:t>
            </a:r>
          </a:p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403E3E"/>
                </a:solidFill>
                <a:latin typeface="Poppins"/>
                <a:ea typeface="Poppins"/>
                <a:cs typeface="Poppins"/>
                <a:sym typeface="Poppins"/>
              </a:rPr>
              <a:t>DBLP → authors of papers</a:t>
            </a:r>
          </a:p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403E3E"/>
                </a:solidFill>
                <a:latin typeface="Poppins"/>
                <a:ea typeface="Poppins"/>
                <a:cs typeface="Poppins"/>
                <a:sym typeface="Poppins"/>
              </a:rPr>
              <a:t>Patents → inventors</a:t>
            </a:r>
          </a:p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403E3E"/>
                </a:solidFill>
                <a:latin typeface="Poppins"/>
                <a:ea typeface="Poppins"/>
                <a:cs typeface="Poppins"/>
                <a:sym typeface="Poppins"/>
              </a:rPr>
              <a:t>NSF → Principal Investigators (PI/Co-PI)</a:t>
            </a:r>
          </a:p>
          <a:p>
            <a:pPr algn="ctr">
              <a:lnSpc>
                <a:spcPts val="3359"/>
              </a:lnSpc>
              <a:spcBef>
                <a:spcPct val="0"/>
              </a:spcBef>
            </a:pPr>
          </a:p>
          <a:p>
            <a:pPr algn="ctr">
              <a:lnSpc>
                <a:spcPts val="3919"/>
              </a:lnSpc>
              <a:spcBef>
                <a:spcPct val="0"/>
              </a:spcBef>
            </a:pPr>
            <a:r>
              <a:rPr lang="en-US" b="true" sz="2799">
                <a:solidFill>
                  <a:srgbClr val="403E3E"/>
                </a:solidFill>
                <a:latin typeface="Poppins Bold"/>
                <a:ea typeface="Poppins Bold"/>
                <a:cs typeface="Poppins Bold"/>
                <a:sym typeface="Poppins Bold"/>
              </a:rPr>
              <a:t>• Research Topics / Keywords</a:t>
            </a:r>
          </a:p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403E3E"/>
                </a:solidFill>
                <a:latin typeface="Poppins"/>
                <a:ea typeface="Poppins"/>
                <a:cs typeface="Poppins"/>
                <a:sym typeface="Poppins"/>
              </a:rPr>
              <a:t>DBLP → extracted from paper titles/keywords</a:t>
            </a:r>
          </a:p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403E3E"/>
                </a:solidFill>
                <a:latin typeface="Poppins"/>
                <a:ea typeface="Poppins"/>
                <a:cs typeface="Poppins"/>
                <a:sym typeface="Poppins"/>
              </a:rPr>
              <a:t>Patents → extracted from abstracts/claims</a:t>
            </a:r>
          </a:p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403E3E"/>
                </a:solidFill>
                <a:latin typeface="Poppins"/>
                <a:ea typeface="Poppins"/>
                <a:cs typeface="Poppins"/>
                <a:sym typeface="Poppins"/>
              </a:rPr>
              <a:t>NSF → topics from award abstracts/keywords</a:t>
            </a:r>
          </a:p>
          <a:p>
            <a:pPr algn="ctr">
              <a:lnSpc>
                <a:spcPts val="3359"/>
              </a:lnSpc>
              <a:spcBef>
                <a:spcPct val="0"/>
              </a:spcBef>
            </a:pPr>
          </a:p>
          <a:p>
            <a:pPr algn="ctr">
              <a:lnSpc>
                <a:spcPts val="3919"/>
              </a:lnSpc>
              <a:spcBef>
                <a:spcPct val="0"/>
              </a:spcBef>
            </a:pPr>
            <a:r>
              <a:rPr lang="en-US" b="true" sz="2799">
                <a:solidFill>
                  <a:srgbClr val="403E3E"/>
                </a:solidFill>
                <a:latin typeface="Poppins Bold"/>
                <a:ea typeface="Poppins Bold"/>
                <a:cs typeface="Poppins Bold"/>
                <a:sym typeface="Poppins Bold"/>
              </a:rPr>
              <a:t>• Temporal Information</a:t>
            </a:r>
          </a:p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403E3E"/>
                </a:solidFill>
                <a:latin typeface="Poppins"/>
                <a:ea typeface="Poppins"/>
                <a:cs typeface="Poppins"/>
                <a:sym typeface="Poppins"/>
              </a:rPr>
              <a:t>DBLP → publication year</a:t>
            </a:r>
          </a:p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403E3E"/>
                </a:solidFill>
                <a:latin typeface="Poppins"/>
                <a:ea typeface="Poppins"/>
                <a:cs typeface="Poppins"/>
                <a:sym typeface="Poppins"/>
              </a:rPr>
              <a:t>NSF → award year &amp; duration</a:t>
            </a:r>
          </a:p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403E3E"/>
                </a:solidFill>
                <a:latin typeface="Poppins"/>
                <a:ea typeface="Poppins"/>
                <a:cs typeface="Poppins"/>
                <a:sym typeface="Poppins"/>
              </a:rPr>
              <a:t>Patents → filing date, grant date</a:t>
            </a:r>
          </a:p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403E3E"/>
                </a:solidFill>
                <a:latin typeface="Poppins"/>
                <a:ea typeface="Poppins"/>
                <a:cs typeface="Poppins"/>
                <a:sym typeface="Poppins"/>
              </a:rPr>
              <a:t>                </a:t>
            </a:r>
          </a:p>
          <a:p>
            <a:pPr algn="l">
              <a:lnSpc>
                <a:spcPts val="3359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E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5400000">
            <a:off x="-4601476" y="2727751"/>
            <a:ext cx="10730064" cy="4831498"/>
            <a:chOff x="0" y="0"/>
            <a:chExt cx="3845413" cy="1731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845413" cy="1731500"/>
            </a:xfrm>
            <a:custGeom>
              <a:avLst/>
              <a:gdLst/>
              <a:ahLst/>
              <a:cxnLst/>
              <a:rect r="r" b="b" t="t" l="l"/>
              <a:pathLst>
                <a:path h="1731500" w="3845413">
                  <a:moveTo>
                    <a:pt x="0" y="0"/>
                  </a:moveTo>
                  <a:lnTo>
                    <a:pt x="3845413" y="0"/>
                  </a:lnTo>
                  <a:lnTo>
                    <a:pt x="3845413" y="1731500"/>
                  </a:lnTo>
                  <a:lnTo>
                    <a:pt x="0" y="1731500"/>
                  </a:lnTo>
                  <a:close/>
                </a:path>
              </a:pathLst>
            </a:custGeom>
            <a:solidFill>
              <a:srgbClr val="F6F5F3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3845413" cy="1779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2705115" y="628325"/>
            <a:ext cx="948381" cy="1520727"/>
          </a:xfrm>
          <a:custGeom>
            <a:avLst/>
            <a:gdLst/>
            <a:ahLst/>
            <a:cxnLst/>
            <a:rect r="r" b="b" t="t" l="l"/>
            <a:pathLst>
              <a:path h="1520727" w="948381">
                <a:moveTo>
                  <a:pt x="0" y="0"/>
                </a:moveTo>
                <a:lnTo>
                  <a:pt x="948381" y="0"/>
                </a:lnTo>
                <a:lnTo>
                  <a:pt x="948381" y="1520727"/>
                </a:lnTo>
                <a:lnTo>
                  <a:pt x="0" y="152072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3653496" y="1145166"/>
            <a:ext cx="7959169" cy="6680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60"/>
              </a:lnSpc>
            </a:pPr>
            <a:r>
              <a:rPr lang="en-US" sz="5600" spc="-420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Data Transformation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3653496" y="2413232"/>
            <a:ext cx="13875467" cy="8229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  <a:spcBef>
                <a:spcPct val="0"/>
              </a:spcBef>
            </a:pPr>
            <a:r>
              <a:rPr lang="en-US" b="true" sz="3599">
                <a:solidFill>
                  <a:srgbClr val="403E3E"/>
                </a:solidFill>
                <a:latin typeface="Poppins Bold"/>
                <a:ea typeface="Poppins Bold"/>
                <a:cs typeface="Poppins Bold"/>
                <a:sym typeface="Poppins Bold"/>
              </a:rPr>
              <a:t>Data</a:t>
            </a:r>
            <a:r>
              <a:rPr lang="en-US" b="true" sz="3599">
                <a:solidFill>
                  <a:srgbClr val="403E3E"/>
                </a:solidFill>
                <a:latin typeface="Poppins Bold"/>
                <a:ea typeface="Poppins Bold"/>
                <a:cs typeface="Poppins Bold"/>
                <a:sym typeface="Poppins Bold"/>
              </a:rPr>
              <a:t> Cleaning </a:t>
            </a:r>
          </a:p>
          <a:p>
            <a:pPr algn="ctr" marL="518160" indent="-259080" lvl="1">
              <a:lnSpc>
                <a:spcPts val="3359"/>
              </a:lnSpc>
              <a:spcBef>
                <a:spcPct val="0"/>
              </a:spcBef>
              <a:buFont typeface="Arial"/>
              <a:buChar char="•"/>
            </a:pPr>
            <a:r>
              <a:rPr lang="en-US" sz="2400">
                <a:solidFill>
                  <a:srgbClr val="403E3E"/>
                </a:solidFill>
                <a:latin typeface="Poppins"/>
                <a:ea typeface="Poppins"/>
                <a:cs typeface="Poppins"/>
                <a:sym typeface="Poppins"/>
              </a:rPr>
              <a:t>Convert </a:t>
            </a:r>
            <a:r>
              <a:rPr lang="en-US" sz="2400">
                <a:solidFill>
                  <a:srgbClr val="403E3E"/>
                </a:solidFill>
                <a:latin typeface="Poppins"/>
                <a:ea typeface="Poppins"/>
                <a:cs typeface="Poppins"/>
                <a:sym typeface="Poppins"/>
              </a:rPr>
              <a:t>all da</a:t>
            </a:r>
            <a:r>
              <a:rPr lang="en-US" sz="2400">
                <a:solidFill>
                  <a:srgbClr val="403E3E"/>
                </a:solidFill>
                <a:latin typeface="Poppins"/>
                <a:ea typeface="Poppins"/>
                <a:cs typeface="Poppins"/>
                <a:sym typeface="Poppins"/>
              </a:rPr>
              <a:t>t</a:t>
            </a:r>
            <a:r>
              <a:rPr lang="en-US" sz="2400">
                <a:solidFill>
                  <a:srgbClr val="403E3E"/>
                </a:solidFill>
                <a:latin typeface="Poppins"/>
                <a:ea typeface="Poppins"/>
                <a:cs typeface="Poppins"/>
                <a:sym typeface="Poppins"/>
              </a:rPr>
              <a:t>es t</a:t>
            </a:r>
            <a:r>
              <a:rPr lang="en-US" sz="2400">
                <a:solidFill>
                  <a:srgbClr val="403E3E"/>
                </a:solidFill>
                <a:latin typeface="Poppins"/>
                <a:ea typeface="Poppins"/>
                <a:cs typeface="Poppins"/>
                <a:sym typeface="Poppins"/>
              </a:rPr>
              <a:t>o</a:t>
            </a:r>
            <a:r>
              <a:rPr lang="en-US" sz="2400">
                <a:solidFill>
                  <a:srgbClr val="403E3E"/>
                </a:solidFill>
                <a:latin typeface="Poppins"/>
                <a:ea typeface="Poppins"/>
                <a:cs typeface="Poppins"/>
                <a:sym typeface="Poppins"/>
              </a:rPr>
              <a:t> a </a:t>
            </a:r>
            <a:r>
              <a:rPr lang="en-US" sz="2400">
                <a:solidFill>
                  <a:srgbClr val="403E3E"/>
                </a:solidFill>
                <a:latin typeface="Poppins"/>
                <a:ea typeface="Poppins"/>
                <a:cs typeface="Poppins"/>
                <a:sym typeface="Poppins"/>
              </a:rPr>
              <a:t>s</a:t>
            </a:r>
            <a:r>
              <a:rPr lang="en-US" sz="2400">
                <a:solidFill>
                  <a:srgbClr val="403E3E"/>
                </a:solidFill>
                <a:latin typeface="Poppins"/>
                <a:ea typeface="Poppins"/>
                <a:cs typeface="Poppins"/>
                <a:sym typeface="Poppins"/>
              </a:rPr>
              <a:t>ingle</a:t>
            </a:r>
            <a:r>
              <a:rPr lang="en-US" sz="2400">
                <a:solidFill>
                  <a:srgbClr val="403E3E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400">
                <a:solidFill>
                  <a:srgbClr val="403E3E"/>
                </a:solidFill>
                <a:latin typeface="Poppins"/>
                <a:ea typeface="Poppins"/>
                <a:cs typeface="Poppins"/>
                <a:sym typeface="Poppins"/>
              </a:rPr>
              <a:t>format</a:t>
            </a:r>
          </a:p>
          <a:p>
            <a:pPr algn="ctr" marL="518160" indent="-259080" lvl="1">
              <a:lnSpc>
                <a:spcPts val="3359"/>
              </a:lnSpc>
              <a:spcBef>
                <a:spcPct val="0"/>
              </a:spcBef>
              <a:buFont typeface="Arial"/>
              <a:buChar char="•"/>
            </a:pPr>
            <a:r>
              <a:rPr lang="en-US" sz="2400">
                <a:solidFill>
                  <a:srgbClr val="403E3E"/>
                </a:solidFill>
                <a:latin typeface="Poppins"/>
                <a:ea typeface="Poppins"/>
                <a:cs typeface="Poppins"/>
                <a:sym typeface="Poppins"/>
              </a:rPr>
              <a:t>Standardize author/institution names </a:t>
            </a:r>
          </a:p>
          <a:p>
            <a:pPr algn="ctr" marL="518160" indent="-259080" lvl="1">
              <a:lnSpc>
                <a:spcPts val="3359"/>
              </a:lnSpc>
              <a:spcBef>
                <a:spcPct val="0"/>
              </a:spcBef>
              <a:buFont typeface="Arial"/>
              <a:buChar char="•"/>
            </a:pPr>
            <a:r>
              <a:rPr lang="en-US" sz="2400">
                <a:solidFill>
                  <a:srgbClr val="403E3E"/>
                </a:solidFill>
                <a:latin typeface="Poppins"/>
                <a:ea typeface="Poppins"/>
                <a:cs typeface="Poppins"/>
                <a:sym typeface="Poppins"/>
              </a:rPr>
              <a:t>Normalize topics/keywords</a:t>
            </a:r>
          </a:p>
          <a:p>
            <a:pPr algn="ctr">
              <a:lnSpc>
                <a:spcPts val="3359"/>
              </a:lnSpc>
              <a:spcBef>
                <a:spcPct val="0"/>
              </a:spcBef>
            </a:pPr>
          </a:p>
          <a:p>
            <a:pPr algn="ctr">
              <a:lnSpc>
                <a:spcPts val="3359"/>
              </a:lnSpc>
              <a:spcBef>
                <a:spcPct val="0"/>
              </a:spcBef>
            </a:pPr>
          </a:p>
          <a:p>
            <a:pPr algn="ctr">
              <a:lnSpc>
                <a:spcPts val="5040"/>
              </a:lnSpc>
              <a:spcBef>
                <a:spcPct val="0"/>
              </a:spcBef>
            </a:pPr>
            <a:r>
              <a:rPr lang="en-US" b="true" sz="3600">
                <a:solidFill>
                  <a:srgbClr val="403E3E"/>
                </a:solidFill>
                <a:latin typeface="Poppins Bold"/>
                <a:ea typeface="Poppins Bold"/>
                <a:cs typeface="Poppins Bold"/>
                <a:sym typeface="Poppins Bold"/>
              </a:rPr>
              <a:t>Topic Extraction</a:t>
            </a:r>
          </a:p>
          <a:p>
            <a:pPr algn="ctr" marL="518160" indent="-259080" lvl="1">
              <a:lnSpc>
                <a:spcPts val="3359"/>
              </a:lnSpc>
              <a:spcBef>
                <a:spcPct val="0"/>
              </a:spcBef>
              <a:buFont typeface="Arial"/>
              <a:buChar char="•"/>
            </a:pPr>
            <a:r>
              <a:rPr lang="en-US" sz="2400">
                <a:solidFill>
                  <a:srgbClr val="403E3E"/>
                </a:solidFill>
                <a:latin typeface="Poppins"/>
                <a:ea typeface="Poppins"/>
                <a:cs typeface="Poppins"/>
                <a:sym typeface="Poppins"/>
              </a:rPr>
              <a:t>TF-I</a:t>
            </a:r>
            <a:r>
              <a:rPr lang="en-US" sz="2400">
                <a:solidFill>
                  <a:srgbClr val="403E3E"/>
                </a:solidFill>
                <a:latin typeface="Poppins"/>
                <a:ea typeface="Poppins"/>
                <a:cs typeface="Poppins"/>
                <a:sym typeface="Poppins"/>
              </a:rPr>
              <a:t>DF keyword extraction</a:t>
            </a:r>
          </a:p>
          <a:p>
            <a:pPr algn="ctr" marL="518160" indent="-259080" lvl="1">
              <a:lnSpc>
                <a:spcPts val="3359"/>
              </a:lnSpc>
              <a:spcBef>
                <a:spcPct val="0"/>
              </a:spcBef>
              <a:buFont typeface="Arial"/>
              <a:buChar char="•"/>
            </a:pPr>
            <a:r>
              <a:rPr lang="en-US" sz="2400">
                <a:solidFill>
                  <a:srgbClr val="403E3E"/>
                </a:solidFill>
                <a:latin typeface="Poppins"/>
                <a:ea typeface="Poppins"/>
                <a:cs typeface="Poppins"/>
                <a:sym typeface="Poppins"/>
              </a:rPr>
              <a:t>Contextual embeddings (BERT)</a:t>
            </a:r>
          </a:p>
          <a:p>
            <a:pPr algn="ctr" marL="518160" indent="-259080" lvl="1">
              <a:lnSpc>
                <a:spcPts val="3359"/>
              </a:lnSpc>
              <a:spcBef>
                <a:spcPct val="0"/>
              </a:spcBef>
              <a:buFont typeface="Arial"/>
              <a:buChar char="•"/>
            </a:pPr>
            <a:r>
              <a:rPr lang="en-US" sz="2400">
                <a:solidFill>
                  <a:srgbClr val="403E3E"/>
                </a:solidFill>
                <a:latin typeface="Poppins"/>
                <a:ea typeface="Poppins"/>
                <a:cs typeface="Poppins"/>
                <a:sym typeface="Poppins"/>
              </a:rPr>
              <a:t>Topic modeling </a:t>
            </a:r>
          </a:p>
          <a:p>
            <a:pPr algn="ctr">
              <a:lnSpc>
                <a:spcPts val="3359"/>
              </a:lnSpc>
              <a:spcBef>
                <a:spcPct val="0"/>
              </a:spcBef>
            </a:pPr>
          </a:p>
          <a:p>
            <a:pPr algn="ctr">
              <a:lnSpc>
                <a:spcPts val="3359"/>
              </a:lnSpc>
              <a:spcBef>
                <a:spcPct val="0"/>
              </a:spcBef>
            </a:pPr>
          </a:p>
          <a:p>
            <a:pPr algn="ctr">
              <a:lnSpc>
                <a:spcPts val="5040"/>
              </a:lnSpc>
              <a:spcBef>
                <a:spcPct val="0"/>
              </a:spcBef>
            </a:pPr>
            <a:r>
              <a:rPr lang="en-US" b="true" sz="3600">
                <a:solidFill>
                  <a:srgbClr val="403E3E"/>
                </a:solidFill>
                <a:latin typeface="Poppins Bold"/>
                <a:ea typeface="Poppins Bold"/>
                <a:cs typeface="Poppins Bold"/>
                <a:sym typeface="Poppins Bold"/>
              </a:rPr>
              <a:t>Clustering to Find Topic Groups</a:t>
            </a:r>
          </a:p>
          <a:p>
            <a:pPr algn="ctr" marL="518160" indent="-259080" lvl="1">
              <a:lnSpc>
                <a:spcPts val="3359"/>
              </a:lnSpc>
              <a:spcBef>
                <a:spcPct val="0"/>
              </a:spcBef>
              <a:buFont typeface="Arial"/>
              <a:buChar char="•"/>
            </a:pPr>
            <a:r>
              <a:rPr lang="en-US" sz="2400">
                <a:solidFill>
                  <a:srgbClr val="403E3E"/>
                </a:solidFill>
                <a:latin typeface="Poppins"/>
                <a:ea typeface="Poppins"/>
                <a:cs typeface="Poppins"/>
                <a:sym typeface="Poppins"/>
              </a:rPr>
              <a:t>Group</a:t>
            </a:r>
            <a:r>
              <a:rPr lang="en-US" sz="2400">
                <a:solidFill>
                  <a:srgbClr val="403E3E"/>
                </a:solidFill>
                <a:latin typeface="Poppins"/>
                <a:ea typeface="Poppins"/>
                <a:cs typeface="Poppins"/>
                <a:sym typeface="Poppins"/>
              </a:rPr>
              <a:t> similar papers, patents, and NSF awards together</a:t>
            </a:r>
          </a:p>
          <a:p>
            <a:pPr algn="ctr" marL="518160" indent="-259080" lvl="1">
              <a:lnSpc>
                <a:spcPts val="3359"/>
              </a:lnSpc>
              <a:spcBef>
                <a:spcPct val="0"/>
              </a:spcBef>
              <a:buFont typeface="Arial"/>
              <a:buChar char="•"/>
            </a:pPr>
            <a:r>
              <a:rPr lang="en-US" sz="2400">
                <a:solidFill>
                  <a:srgbClr val="403E3E"/>
                </a:solidFill>
                <a:latin typeface="Poppins"/>
                <a:ea typeface="Poppins"/>
                <a:cs typeface="Poppins"/>
                <a:sym typeface="Poppins"/>
              </a:rPr>
              <a:t>Creates unified topic clusters</a:t>
            </a:r>
          </a:p>
          <a:p>
            <a:pPr algn="ctr">
              <a:lnSpc>
                <a:spcPts val="3359"/>
              </a:lnSpc>
              <a:spcBef>
                <a:spcPct val="0"/>
              </a:spcBef>
            </a:pPr>
          </a:p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403E3E"/>
                </a:solidFill>
                <a:latin typeface="Poppins"/>
                <a:ea typeface="Poppins"/>
                <a:cs typeface="Poppins"/>
                <a:sym typeface="Poppins"/>
              </a:rPr>
              <a:t>                </a:t>
            </a:r>
          </a:p>
          <a:p>
            <a:pPr algn="l">
              <a:lnSpc>
                <a:spcPts val="3359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E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5400000">
            <a:off x="-4601476" y="2727751"/>
            <a:ext cx="10730064" cy="4831498"/>
            <a:chOff x="0" y="0"/>
            <a:chExt cx="3845413" cy="1731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845413" cy="1731500"/>
            </a:xfrm>
            <a:custGeom>
              <a:avLst/>
              <a:gdLst/>
              <a:ahLst/>
              <a:cxnLst/>
              <a:rect r="r" b="b" t="t" l="l"/>
              <a:pathLst>
                <a:path h="1731500" w="3845413">
                  <a:moveTo>
                    <a:pt x="0" y="0"/>
                  </a:moveTo>
                  <a:lnTo>
                    <a:pt x="3845413" y="0"/>
                  </a:lnTo>
                  <a:lnTo>
                    <a:pt x="3845413" y="1731500"/>
                  </a:lnTo>
                  <a:lnTo>
                    <a:pt x="0" y="1731500"/>
                  </a:lnTo>
                  <a:close/>
                </a:path>
              </a:pathLst>
            </a:custGeom>
            <a:solidFill>
              <a:srgbClr val="F6F5F3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3845413" cy="1779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2705115" y="628325"/>
            <a:ext cx="948381" cy="1520727"/>
          </a:xfrm>
          <a:custGeom>
            <a:avLst/>
            <a:gdLst/>
            <a:ahLst/>
            <a:cxnLst/>
            <a:rect r="r" b="b" t="t" l="l"/>
            <a:pathLst>
              <a:path h="1520727" w="948381">
                <a:moveTo>
                  <a:pt x="0" y="0"/>
                </a:moveTo>
                <a:lnTo>
                  <a:pt x="948381" y="0"/>
                </a:lnTo>
                <a:lnTo>
                  <a:pt x="948381" y="1520727"/>
                </a:lnTo>
                <a:lnTo>
                  <a:pt x="0" y="152072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3653496" y="2585324"/>
            <a:ext cx="14109712" cy="79232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072"/>
              </a:lnSpc>
              <a:spcBef>
                <a:spcPct val="0"/>
              </a:spcBef>
            </a:pPr>
            <a:r>
              <a:rPr lang="en-US" b="true" sz="3623" spc="-79">
                <a:solidFill>
                  <a:srgbClr val="403E3E"/>
                </a:solidFill>
                <a:latin typeface="Inter Bold"/>
                <a:ea typeface="Inter Bold"/>
                <a:cs typeface="Inter Bold"/>
                <a:sym typeface="Inter Bold"/>
              </a:rPr>
              <a:t>1Q.</a:t>
            </a:r>
            <a:r>
              <a:rPr lang="en-US" sz="3623" spc="-79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3623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Which in</a:t>
            </a:r>
            <a:r>
              <a:rPr lang="en-US" sz="3623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stitutions have received the most NSF grants related to AI research?</a:t>
            </a:r>
          </a:p>
          <a:p>
            <a:pPr algn="just">
              <a:lnSpc>
                <a:spcPts val="5072"/>
              </a:lnSpc>
              <a:spcBef>
                <a:spcPct val="0"/>
              </a:spcBef>
            </a:pPr>
          </a:p>
          <a:p>
            <a:pPr algn="just">
              <a:lnSpc>
                <a:spcPts val="5072"/>
              </a:lnSpc>
              <a:spcBef>
                <a:spcPct val="0"/>
              </a:spcBef>
            </a:pPr>
            <a:r>
              <a:rPr lang="en-US" b="true" sz="3623" spc="-79" strike="noStrike" u="none">
                <a:solidFill>
                  <a:srgbClr val="403E3E"/>
                </a:solidFill>
                <a:latin typeface="Inter Bold"/>
                <a:ea typeface="Inter Bold"/>
                <a:cs typeface="Inter Bold"/>
                <a:sym typeface="Inter Bold"/>
              </a:rPr>
              <a:t>Ans) </a:t>
            </a:r>
            <a:r>
              <a:rPr lang="en-US" sz="3623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Grants are identified through the hasKeyword relation connecting a Paper to a Topic. </a:t>
            </a:r>
          </a:p>
          <a:p>
            <a:pPr algn="just">
              <a:lnSpc>
                <a:spcPts val="5072"/>
              </a:lnSpc>
              <a:spcBef>
                <a:spcPct val="0"/>
              </a:spcBef>
            </a:pPr>
          </a:p>
          <a:p>
            <a:pPr algn="just">
              <a:lnSpc>
                <a:spcPts val="5072"/>
              </a:lnSpc>
              <a:spcBef>
                <a:spcPct val="0"/>
              </a:spcBef>
            </a:pPr>
            <a:r>
              <a:rPr lang="en-US" sz="3623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Each Grant is then linked to an Institution via the awardedTo relation.</a:t>
            </a:r>
          </a:p>
          <a:p>
            <a:pPr algn="just">
              <a:lnSpc>
                <a:spcPts val="5072"/>
              </a:lnSpc>
              <a:spcBef>
                <a:spcPct val="0"/>
              </a:spcBef>
            </a:pPr>
          </a:p>
          <a:p>
            <a:pPr algn="just">
              <a:lnSpc>
                <a:spcPts val="5072"/>
              </a:lnSpc>
              <a:spcBef>
                <a:spcPct val="0"/>
              </a:spcBef>
            </a:pPr>
            <a:r>
              <a:rPr lang="en-US" sz="3623" spc="-79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Counting the number of grants for a particular Topic gives the answer of how much funding is going into one Research Topic.</a:t>
            </a:r>
          </a:p>
          <a:p>
            <a:pPr algn="just">
              <a:lnSpc>
                <a:spcPts val="5072"/>
              </a:lnSpc>
              <a:spcBef>
                <a:spcPct val="0"/>
              </a:spcBef>
            </a:pPr>
          </a:p>
          <a:p>
            <a:pPr algn="just" marL="0" indent="0" lvl="0">
              <a:lnSpc>
                <a:spcPts val="2028"/>
              </a:lnSpc>
              <a:spcBef>
                <a:spcPct val="0"/>
              </a:spcBef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4222579" y="720668"/>
            <a:ext cx="7959169" cy="6680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60"/>
              </a:lnSpc>
            </a:pPr>
            <a:r>
              <a:rPr lang="en-US" sz="5600" spc="-420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Competency Questions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E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877773" y="952500"/>
            <a:ext cx="14117497" cy="74803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599"/>
              </a:lnSpc>
              <a:spcBef>
                <a:spcPct val="0"/>
              </a:spcBef>
            </a:pPr>
          </a:p>
          <a:p>
            <a:pPr algn="just" marL="0" indent="0" lvl="0">
              <a:lnSpc>
                <a:spcPts val="5599"/>
              </a:lnSpc>
              <a:spcBef>
                <a:spcPct val="0"/>
              </a:spcBef>
            </a:pPr>
            <a:r>
              <a:rPr lang="en-US" b="true" sz="3999" spc="-87" strike="noStrike" u="none">
                <a:solidFill>
                  <a:srgbClr val="403E3E"/>
                </a:solidFill>
                <a:latin typeface="Inter Bold"/>
                <a:ea typeface="Inter Bold"/>
                <a:cs typeface="Inter Bold"/>
                <a:sym typeface="Inter Bold"/>
              </a:rPr>
              <a:t>2Q.</a:t>
            </a:r>
            <a:r>
              <a:rPr lang="en-US" sz="3999" spc="-87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 H</a:t>
            </a:r>
            <a:r>
              <a:rPr lang="en-US" sz="3999" spc="-87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ow has CS topics evolved over time?</a:t>
            </a:r>
          </a:p>
          <a:p>
            <a:pPr algn="just" marL="0" indent="0" lvl="0">
              <a:lnSpc>
                <a:spcPts val="5599"/>
              </a:lnSpc>
              <a:spcBef>
                <a:spcPct val="0"/>
              </a:spcBef>
            </a:pPr>
          </a:p>
          <a:p>
            <a:pPr algn="just" marL="0" indent="0" lvl="0">
              <a:lnSpc>
                <a:spcPts val="5599"/>
              </a:lnSpc>
              <a:spcBef>
                <a:spcPct val="0"/>
              </a:spcBef>
            </a:pPr>
            <a:r>
              <a:rPr lang="en-US" b="true" sz="3999" spc="-87" strike="noStrike" u="none">
                <a:solidFill>
                  <a:srgbClr val="403E3E"/>
                </a:solidFill>
                <a:latin typeface="Inter Bold"/>
                <a:ea typeface="Inter Bold"/>
                <a:cs typeface="Inter Bold"/>
                <a:sym typeface="Inter Bold"/>
              </a:rPr>
              <a:t>Ans)</a:t>
            </a:r>
            <a:r>
              <a:rPr lang="en-US" sz="3999" spc="-87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 Each Topic has a Trajectory, made up of time-ordered Fixes, and each Fix corresponds to a Paper with a publication date.</a:t>
            </a:r>
          </a:p>
          <a:p>
            <a:pPr algn="just" marL="0" indent="0" lvl="0">
              <a:lnSpc>
                <a:spcPts val="5599"/>
              </a:lnSpc>
              <a:spcBef>
                <a:spcPct val="0"/>
              </a:spcBef>
            </a:pPr>
          </a:p>
          <a:p>
            <a:pPr algn="just">
              <a:lnSpc>
                <a:spcPts val="5599"/>
              </a:lnSpc>
              <a:spcBef>
                <a:spcPct val="0"/>
              </a:spcBef>
            </a:pPr>
            <a:r>
              <a:rPr lang="en-US" sz="3999" spc="-87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 By aggregating these fixes along the trajectory, the ontology provides a timeline showing how a CS topic has evolved over time.</a:t>
            </a:r>
          </a:p>
          <a:p>
            <a:pPr algn="just" marL="0" indent="0" lvl="0">
              <a:lnSpc>
                <a:spcPts val="3499"/>
              </a:lnSpc>
              <a:spcBef>
                <a:spcPct val="0"/>
              </a:spcBef>
            </a:pPr>
          </a:p>
        </p:txBody>
      </p:sp>
      <p:grpSp>
        <p:nvGrpSpPr>
          <p:cNvPr name="Group 3" id="3"/>
          <p:cNvGrpSpPr/>
          <p:nvPr/>
        </p:nvGrpSpPr>
        <p:grpSpPr>
          <a:xfrm rot="5400000">
            <a:off x="-4601476" y="2727751"/>
            <a:ext cx="10730064" cy="4831498"/>
            <a:chOff x="0" y="0"/>
            <a:chExt cx="3845413" cy="17315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845413" cy="1731500"/>
            </a:xfrm>
            <a:custGeom>
              <a:avLst/>
              <a:gdLst/>
              <a:ahLst/>
              <a:cxnLst/>
              <a:rect r="r" b="b" t="t" l="l"/>
              <a:pathLst>
                <a:path h="1731500" w="3845413">
                  <a:moveTo>
                    <a:pt x="0" y="0"/>
                  </a:moveTo>
                  <a:lnTo>
                    <a:pt x="3845413" y="0"/>
                  </a:lnTo>
                  <a:lnTo>
                    <a:pt x="3845413" y="1731500"/>
                  </a:lnTo>
                  <a:lnTo>
                    <a:pt x="0" y="1731500"/>
                  </a:lnTo>
                  <a:close/>
                </a:path>
              </a:pathLst>
            </a:custGeom>
            <a:solidFill>
              <a:srgbClr val="F6F5F3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3845413" cy="1779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2705115" y="628325"/>
            <a:ext cx="948381" cy="1520727"/>
          </a:xfrm>
          <a:custGeom>
            <a:avLst/>
            <a:gdLst/>
            <a:ahLst/>
            <a:cxnLst/>
            <a:rect r="r" b="b" t="t" l="l"/>
            <a:pathLst>
              <a:path h="1520727" w="948381">
                <a:moveTo>
                  <a:pt x="0" y="0"/>
                </a:moveTo>
                <a:lnTo>
                  <a:pt x="948381" y="0"/>
                </a:lnTo>
                <a:lnTo>
                  <a:pt x="948381" y="1520727"/>
                </a:lnTo>
                <a:lnTo>
                  <a:pt x="0" y="152072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E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873655" y="952500"/>
            <a:ext cx="14117497" cy="9842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599"/>
              </a:lnSpc>
              <a:spcBef>
                <a:spcPct val="0"/>
              </a:spcBef>
            </a:pPr>
            <a:r>
              <a:rPr lang="en-US" b="true" sz="3999" spc="-87">
                <a:solidFill>
                  <a:srgbClr val="403E3E"/>
                </a:solidFill>
                <a:latin typeface="Inter Bold"/>
                <a:ea typeface="Inter Bold"/>
                <a:cs typeface="Inter Bold"/>
                <a:sym typeface="Inter Bold"/>
              </a:rPr>
              <a:t>3Q.</a:t>
            </a:r>
            <a:r>
              <a:rPr lang="en-US" sz="3999" spc="-87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3999" spc="-87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Which NSF projects produced the highest innovation velocity?</a:t>
            </a:r>
          </a:p>
          <a:p>
            <a:pPr algn="just">
              <a:lnSpc>
                <a:spcPts val="5599"/>
              </a:lnSpc>
              <a:spcBef>
                <a:spcPct val="0"/>
              </a:spcBef>
            </a:pPr>
          </a:p>
          <a:p>
            <a:pPr algn="just">
              <a:lnSpc>
                <a:spcPts val="5599"/>
              </a:lnSpc>
              <a:spcBef>
                <a:spcPct val="0"/>
              </a:spcBef>
            </a:pPr>
            <a:r>
              <a:rPr lang="en-US" b="true" sz="3999" spc="-87" strike="noStrike" u="none">
                <a:solidFill>
                  <a:srgbClr val="403E3E"/>
                </a:solidFill>
                <a:latin typeface="Inter Bold"/>
                <a:ea typeface="Inter Bold"/>
                <a:cs typeface="Inter Bold"/>
                <a:sym typeface="Inter Bold"/>
              </a:rPr>
              <a:t>Ans)</a:t>
            </a:r>
            <a:r>
              <a:rPr lang="en-US" sz="3999" spc="-87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 The number of papers and patents that are being released in a particular Topic after a grant is issued is the innovation velocity</a:t>
            </a:r>
          </a:p>
          <a:p>
            <a:pPr algn="just">
              <a:lnSpc>
                <a:spcPts val="5599"/>
              </a:lnSpc>
              <a:spcBef>
                <a:spcPct val="0"/>
              </a:spcBef>
            </a:pPr>
          </a:p>
          <a:p>
            <a:pPr algn="just">
              <a:lnSpc>
                <a:spcPts val="5599"/>
              </a:lnSpc>
              <a:spcBef>
                <a:spcPct val="0"/>
              </a:spcBef>
            </a:pPr>
            <a:r>
              <a:rPr lang="en-US" sz="3999" spc="-87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Using the awardDate of the grant and the hasDate values of resulting papers/patents, the ontology measures how quickly new outputs appear.</a:t>
            </a:r>
          </a:p>
          <a:p>
            <a:pPr algn="just">
              <a:lnSpc>
                <a:spcPts val="5599"/>
              </a:lnSpc>
              <a:spcBef>
                <a:spcPct val="0"/>
              </a:spcBef>
            </a:pPr>
            <a:r>
              <a:rPr lang="en-US" sz="3999" spc="-87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 This allows computation of innovation velocity.</a:t>
            </a:r>
          </a:p>
          <a:p>
            <a:pPr algn="just">
              <a:lnSpc>
                <a:spcPts val="5599"/>
              </a:lnSpc>
              <a:spcBef>
                <a:spcPct val="0"/>
              </a:spcBef>
            </a:pPr>
          </a:p>
          <a:p>
            <a:pPr algn="just">
              <a:lnSpc>
                <a:spcPts val="5599"/>
              </a:lnSpc>
              <a:spcBef>
                <a:spcPct val="0"/>
              </a:spcBef>
            </a:pPr>
          </a:p>
          <a:p>
            <a:pPr algn="just" marL="0" indent="0" lvl="0">
              <a:lnSpc>
                <a:spcPts val="5599"/>
              </a:lnSpc>
              <a:spcBef>
                <a:spcPct val="0"/>
              </a:spcBef>
            </a:pPr>
          </a:p>
        </p:txBody>
      </p:sp>
      <p:grpSp>
        <p:nvGrpSpPr>
          <p:cNvPr name="Group 3" id="3"/>
          <p:cNvGrpSpPr/>
          <p:nvPr/>
        </p:nvGrpSpPr>
        <p:grpSpPr>
          <a:xfrm rot="5400000">
            <a:off x="-4601476" y="2727751"/>
            <a:ext cx="10730064" cy="4831498"/>
            <a:chOff x="0" y="0"/>
            <a:chExt cx="3845413" cy="17315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845413" cy="1731500"/>
            </a:xfrm>
            <a:custGeom>
              <a:avLst/>
              <a:gdLst/>
              <a:ahLst/>
              <a:cxnLst/>
              <a:rect r="r" b="b" t="t" l="l"/>
              <a:pathLst>
                <a:path h="1731500" w="3845413">
                  <a:moveTo>
                    <a:pt x="0" y="0"/>
                  </a:moveTo>
                  <a:lnTo>
                    <a:pt x="3845413" y="0"/>
                  </a:lnTo>
                  <a:lnTo>
                    <a:pt x="3845413" y="1731500"/>
                  </a:lnTo>
                  <a:lnTo>
                    <a:pt x="0" y="1731500"/>
                  </a:lnTo>
                  <a:close/>
                </a:path>
              </a:pathLst>
            </a:custGeom>
            <a:solidFill>
              <a:srgbClr val="F6F5F3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3845413" cy="1779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2705115" y="628325"/>
            <a:ext cx="948381" cy="1520727"/>
          </a:xfrm>
          <a:custGeom>
            <a:avLst/>
            <a:gdLst/>
            <a:ahLst/>
            <a:cxnLst/>
            <a:rect r="r" b="b" t="t" l="l"/>
            <a:pathLst>
              <a:path h="1520727" w="948381">
                <a:moveTo>
                  <a:pt x="0" y="0"/>
                </a:moveTo>
                <a:lnTo>
                  <a:pt x="948381" y="0"/>
                </a:lnTo>
                <a:lnTo>
                  <a:pt x="948381" y="1520727"/>
                </a:lnTo>
                <a:lnTo>
                  <a:pt x="0" y="152072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E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877773" y="1312488"/>
            <a:ext cx="14117497" cy="8432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599"/>
              </a:lnSpc>
              <a:spcBef>
                <a:spcPct val="0"/>
              </a:spcBef>
            </a:pPr>
            <a:r>
              <a:rPr lang="en-US" b="true" sz="3999" spc="-87">
                <a:solidFill>
                  <a:srgbClr val="403E3E"/>
                </a:solidFill>
                <a:latin typeface="Inter Bold"/>
                <a:ea typeface="Inter Bold"/>
                <a:cs typeface="Inter Bold"/>
                <a:sym typeface="Inter Bold"/>
              </a:rPr>
              <a:t>4Q.</a:t>
            </a:r>
            <a:r>
              <a:rPr lang="en-US" sz="3999" spc="-87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3999" spc="-87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Which</a:t>
            </a:r>
            <a:r>
              <a:rPr lang="en-US" sz="3999" spc="-87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 authors frequently publish in both academic venues (conferences/journals) and also file patents?</a:t>
            </a:r>
          </a:p>
          <a:p>
            <a:pPr algn="just">
              <a:lnSpc>
                <a:spcPts val="5599"/>
              </a:lnSpc>
              <a:spcBef>
                <a:spcPct val="0"/>
              </a:spcBef>
            </a:pPr>
          </a:p>
          <a:p>
            <a:pPr algn="just">
              <a:lnSpc>
                <a:spcPts val="5599"/>
              </a:lnSpc>
              <a:spcBef>
                <a:spcPct val="0"/>
              </a:spcBef>
            </a:pPr>
            <a:r>
              <a:rPr lang="en-US" b="true" sz="3999" spc="-87" strike="noStrike" u="none">
                <a:solidFill>
                  <a:srgbClr val="403E3E"/>
                </a:solidFill>
                <a:latin typeface="Inter Bold"/>
                <a:ea typeface="Inter Bold"/>
                <a:cs typeface="Inter Bold"/>
                <a:sym typeface="Inter Bold"/>
              </a:rPr>
              <a:t>Ans)</a:t>
            </a:r>
            <a:r>
              <a:rPr lang="en-US" sz="3999" spc="-87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 The schema links an Author to Paper and Inventors to their Patents.</a:t>
            </a:r>
          </a:p>
          <a:p>
            <a:pPr algn="just">
              <a:lnSpc>
                <a:spcPts val="5599"/>
              </a:lnSpc>
              <a:spcBef>
                <a:spcPct val="0"/>
              </a:spcBef>
            </a:pPr>
            <a:r>
              <a:rPr lang="en-US" sz="3999" spc="-87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</a:p>
          <a:p>
            <a:pPr algn="just">
              <a:lnSpc>
                <a:spcPts val="5599"/>
              </a:lnSpc>
              <a:spcBef>
                <a:spcPct val="0"/>
              </a:spcBef>
            </a:pPr>
            <a:r>
              <a:rPr lang="en-US" sz="3999" spc="-87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Person who appear in both sets—those who have writes → Paper (Venue) and files → Patent (hasInventor) —are identified as publishing academically while also generating patents.</a:t>
            </a:r>
          </a:p>
          <a:p>
            <a:pPr algn="just">
              <a:lnSpc>
                <a:spcPts val="5599"/>
              </a:lnSpc>
              <a:spcBef>
                <a:spcPct val="0"/>
              </a:spcBef>
            </a:pPr>
          </a:p>
          <a:p>
            <a:pPr algn="just" marL="0" indent="0" lvl="0">
              <a:lnSpc>
                <a:spcPts val="5599"/>
              </a:lnSpc>
              <a:spcBef>
                <a:spcPct val="0"/>
              </a:spcBef>
            </a:pPr>
          </a:p>
        </p:txBody>
      </p:sp>
      <p:grpSp>
        <p:nvGrpSpPr>
          <p:cNvPr name="Group 3" id="3"/>
          <p:cNvGrpSpPr/>
          <p:nvPr/>
        </p:nvGrpSpPr>
        <p:grpSpPr>
          <a:xfrm rot="5400000">
            <a:off x="-4601476" y="2727751"/>
            <a:ext cx="10730064" cy="4831498"/>
            <a:chOff x="0" y="0"/>
            <a:chExt cx="3845413" cy="17315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845413" cy="1731500"/>
            </a:xfrm>
            <a:custGeom>
              <a:avLst/>
              <a:gdLst/>
              <a:ahLst/>
              <a:cxnLst/>
              <a:rect r="r" b="b" t="t" l="l"/>
              <a:pathLst>
                <a:path h="1731500" w="3845413">
                  <a:moveTo>
                    <a:pt x="0" y="0"/>
                  </a:moveTo>
                  <a:lnTo>
                    <a:pt x="3845413" y="0"/>
                  </a:lnTo>
                  <a:lnTo>
                    <a:pt x="3845413" y="1731500"/>
                  </a:lnTo>
                  <a:lnTo>
                    <a:pt x="0" y="1731500"/>
                  </a:lnTo>
                  <a:close/>
                </a:path>
              </a:pathLst>
            </a:custGeom>
            <a:solidFill>
              <a:srgbClr val="F6F5F3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3845413" cy="1779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2705115" y="628325"/>
            <a:ext cx="948381" cy="1520727"/>
          </a:xfrm>
          <a:custGeom>
            <a:avLst/>
            <a:gdLst/>
            <a:ahLst/>
            <a:cxnLst/>
            <a:rect r="r" b="b" t="t" l="l"/>
            <a:pathLst>
              <a:path h="1520727" w="948381">
                <a:moveTo>
                  <a:pt x="0" y="0"/>
                </a:moveTo>
                <a:lnTo>
                  <a:pt x="948381" y="0"/>
                </a:lnTo>
                <a:lnTo>
                  <a:pt x="948381" y="1520727"/>
                </a:lnTo>
                <a:lnTo>
                  <a:pt x="0" y="152072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E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155838" y="952500"/>
            <a:ext cx="13103462" cy="91410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197"/>
              </a:lnSpc>
              <a:spcBef>
                <a:spcPct val="0"/>
              </a:spcBef>
            </a:pPr>
            <a:r>
              <a:rPr lang="en-US" b="true" sz="3712" spc="-81">
                <a:solidFill>
                  <a:srgbClr val="403E3E"/>
                </a:solidFill>
                <a:latin typeface="Inter Bold"/>
                <a:ea typeface="Inter Bold"/>
                <a:cs typeface="Inter Bold"/>
                <a:sym typeface="Inter Bold"/>
              </a:rPr>
              <a:t>5Q.</a:t>
            </a:r>
            <a:r>
              <a:rPr lang="en-US" sz="3712" spc="-81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3712" spc="-81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Which NSF-funded areas have produced patents most rapidly (shortest time lag)?</a:t>
            </a:r>
          </a:p>
          <a:p>
            <a:pPr algn="just">
              <a:lnSpc>
                <a:spcPts val="5197"/>
              </a:lnSpc>
              <a:spcBef>
                <a:spcPct val="0"/>
              </a:spcBef>
            </a:pPr>
          </a:p>
          <a:p>
            <a:pPr algn="just">
              <a:lnSpc>
                <a:spcPts val="5197"/>
              </a:lnSpc>
              <a:spcBef>
                <a:spcPct val="0"/>
              </a:spcBef>
            </a:pPr>
            <a:r>
              <a:rPr lang="en-US" b="true" sz="3712" spc="-81" strike="noStrike" u="none">
                <a:solidFill>
                  <a:srgbClr val="403E3E"/>
                </a:solidFill>
                <a:latin typeface="Inter Bold"/>
                <a:ea typeface="Inter Bold"/>
                <a:cs typeface="Inter Bold"/>
                <a:sym typeface="Inter Bold"/>
              </a:rPr>
              <a:t>Ans)</a:t>
            </a:r>
            <a:r>
              <a:rPr lang="en-US" sz="3712" spc="-81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 Each Grant is linked to one or more Topics and to resulting Patents.</a:t>
            </a:r>
          </a:p>
          <a:p>
            <a:pPr algn="just">
              <a:lnSpc>
                <a:spcPts val="5197"/>
              </a:lnSpc>
              <a:spcBef>
                <a:spcPct val="0"/>
              </a:spcBef>
            </a:pPr>
            <a:r>
              <a:rPr lang="en-US" sz="3712" spc="-81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</a:p>
          <a:p>
            <a:pPr algn="just">
              <a:lnSpc>
                <a:spcPts val="5197"/>
              </a:lnSpc>
              <a:spcBef>
                <a:spcPct val="0"/>
              </a:spcBef>
            </a:pPr>
            <a:r>
              <a:rPr lang="en-US" sz="3712" spc="-81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By comparing the awardDate of a grant with the hasDate of patents connected to it, the ontology can compute the shortest time lag.</a:t>
            </a:r>
          </a:p>
          <a:p>
            <a:pPr algn="just">
              <a:lnSpc>
                <a:spcPts val="5197"/>
              </a:lnSpc>
              <a:spcBef>
                <a:spcPct val="0"/>
              </a:spcBef>
            </a:pPr>
            <a:r>
              <a:rPr lang="en-US" sz="3712" spc="-81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</a:p>
          <a:p>
            <a:pPr algn="just">
              <a:lnSpc>
                <a:spcPts val="5197"/>
              </a:lnSpc>
              <a:spcBef>
                <a:spcPct val="0"/>
              </a:spcBef>
            </a:pPr>
            <a:r>
              <a:rPr lang="en-US" sz="3712" spc="-81" strike="noStrike" u="none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This shows which NSF-funded areas generate patents the fastest.</a:t>
            </a:r>
          </a:p>
          <a:p>
            <a:pPr algn="just">
              <a:lnSpc>
                <a:spcPts val="5197"/>
              </a:lnSpc>
              <a:spcBef>
                <a:spcPct val="0"/>
              </a:spcBef>
            </a:pPr>
          </a:p>
          <a:p>
            <a:pPr algn="just" marL="0" indent="0" lvl="0">
              <a:lnSpc>
                <a:spcPts val="5197"/>
              </a:lnSpc>
              <a:spcBef>
                <a:spcPct val="0"/>
              </a:spcBef>
            </a:pPr>
          </a:p>
        </p:txBody>
      </p:sp>
      <p:grpSp>
        <p:nvGrpSpPr>
          <p:cNvPr name="Group 3" id="3"/>
          <p:cNvGrpSpPr/>
          <p:nvPr/>
        </p:nvGrpSpPr>
        <p:grpSpPr>
          <a:xfrm rot="5400000">
            <a:off x="-4601476" y="2727751"/>
            <a:ext cx="10730064" cy="4831498"/>
            <a:chOff x="0" y="0"/>
            <a:chExt cx="3845413" cy="17315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845413" cy="1731500"/>
            </a:xfrm>
            <a:custGeom>
              <a:avLst/>
              <a:gdLst/>
              <a:ahLst/>
              <a:cxnLst/>
              <a:rect r="r" b="b" t="t" l="l"/>
              <a:pathLst>
                <a:path h="1731500" w="3845413">
                  <a:moveTo>
                    <a:pt x="0" y="0"/>
                  </a:moveTo>
                  <a:lnTo>
                    <a:pt x="3845413" y="0"/>
                  </a:lnTo>
                  <a:lnTo>
                    <a:pt x="3845413" y="1731500"/>
                  </a:lnTo>
                  <a:lnTo>
                    <a:pt x="0" y="1731500"/>
                  </a:lnTo>
                  <a:close/>
                </a:path>
              </a:pathLst>
            </a:custGeom>
            <a:solidFill>
              <a:srgbClr val="F6F5F3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3845413" cy="1779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2705115" y="628325"/>
            <a:ext cx="948381" cy="1520727"/>
          </a:xfrm>
          <a:custGeom>
            <a:avLst/>
            <a:gdLst/>
            <a:ahLst/>
            <a:cxnLst/>
            <a:rect r="r" b="b" t="t" l="l"/>
            <a:pathLst>
              <a:path h="1520727" w="948381">
                <a:moveTo>
                  <a:pt x="0" y="0"/>
                </a:moveTo>
                <a:lnTo>
                  <a:pt x="948381" y="0"/>
                </a:lnTo>
                <a:lnTo>
                  <a:pt x="948381" y="1520727"/>
                </a:lnTo>
                <a:lnTo>
                  <a:pt x="0" y="152072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E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671645" y="4264932"/>
            <a:ext cx="7553325" cy="10255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7224"/>
              </a:lnSpc>
            </a:pPr>
            <a:r>
              <a:rPr lang="en-US" b="true" sz="8499" spc="-637">
                <a:solidFill>
                  <a:srgbClr val="403E3E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THANKYOU</a:t>
            </a:r>
          </a:p>
        </p:txBody>
      </p:sp>
      <p:grpSp>
        <p:nvGrpSpPr>
          <p:cNvPr name="Group 3" id="3"/>
          <p:cNvGrpSpPr/>
          <p:nvPr/>
        </p:nvGrpSpPr>
        <p:grpSpPr>
          <a:xfrm rot="5400000">
            <a:off x="-5767677" y="2558755"/>
            <a:ext cx="10730064" cy="5979852"/>
            <a:chOff x="0" y="0"/>
            <a:chExt cx="3845413" cy="2143044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845413" cy="2143044"/>
            </a:xfrm>
            <a:custGeom>
              <a:avLst/>
              <a:gdLst/>
              <a:ahLst/>
              <a:cxnLst/>
              <a:rect r="r" b="b" t="t" l="l"/>
              <a:pathLst>
                <a:path h="2143044" w="3845413">
                  <a:moveTo>
                    <a:pt x="0" y="0"/>
                  </a:moveTo>
                  <a:lnTo>
                    <a:pt x="3845413" y="0"/>
                  </a:lnTo>
                  <a:lnTo>
                    <a:pt x="3845413" y="2143044"/>
                  </a:lnTo>
                  <a:lnTo>
                    <a:pt x="0" y="2143044"/>
                  </a:lnTo>
                  <a:close/>
                </a:path>
              </a:pathLst>
            </a:custGeom>
            <a:solidFill>
              <a:srgbClr val="F6F5F3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3845413" cy="21906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2113090" y="1211532"/>
            <a:ext cx="948381" cy="1520727"/>
          </a:xfrm>
          <a:custGeom>
            <a:avLst/>
            <a:gdLst/>
            <a:ahLst/>
            <a:cxnLst/>
            <a:rect r="r" b="b" t="t" l="l"/>
            <a:pathLst>
              <a:path h="1520727" w="948381">
                <a:moveTo>
                  <a:pt x="0" y="0"/>
                </a:moveTo>
                <a:lnTo>
                  <a:pt x="948381" y="0"/>
                </a:lnTo>
                <a:lnTo>
                  <a:pt x="948381" y="1520727"/>
                </a:lnTo>
                <a:lnTo>
                  <a:pt x="0" y="152072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DAG6Som47nk</dc:identifier>
  <dcterms:modified xsi:type="dcterms:W3CDTF">2011-08-01T06:04:30Z</dcterms:modified>
  <cp:revision>1</cp:revision>
  <dc:title>Black and Cream Clean and Simple Social Media Marketing Report Presentation</dc:title>
</cp:coreProperties>
</file>